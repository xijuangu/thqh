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1" name="Shape 19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/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pPr/>
            <a:r>
              <a:t>标题文本</a:t>
            </a:r>
          </a:p>
        </p:txBody>
      </p:sp>
      <p:sp>
        <p:nvSpPr>
          <p:cNvPr id="12" name="正文级别 1…"/>
          <p:cNvSpPr txBox="1"/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水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像"/>
          <p:cNvSpPr/>
          <p:nvPr>
            <p:ph type="pic" idx="13"/>
          </p:nvPr>
        </p:nvSpPr>
        <p:spPr>
          <a:xfrm>
            <a:off x="3125968" y="673100"/>
            <a:ext cx="18135601" cy="8737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标题文本"/>
          <p:cNvSpPr txBox="1"/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pPr/>
            <a:r>
              <a:t>标题文本</a:t>
            </a:r>
          </a:p>
        </p:txBody>
      </p:sp>
      <p:sp>
        <p:nvSpPr>
          <p:cNvPr id="22" name="正文级别 1…"/>
          <p:cNvSpPr txBox="1"/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 - 居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文本"/>
          <p:cNvSpPr txBox="1"/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3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垂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图像"/>
          <p:cNvSpPr/>
          <p:nvPr>
            <p:ph type="pic" sz="half" idx="13"/>
          </p:nvPr>
        </p:nvSpPr>
        <p:spPr>
          <a:xfrm>
            <a:off x="13165980" y="952500"/>
            <a:ext cx="9525001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标题文本"/>
          <p:cNvSpPr txBox="1"/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pPr/>
            <a:r>
              <a:t>标题文本</a:t>
            </a:r>
          </a:p>
        </p:txBody>
      </p:sp>
      <p:sp>
        <p:nvSpPr>
          <p:cNvPr id="40" name="正文级别 1…"/>
          <p:cNvSpPr txBox="1"/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4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57" name="正文级别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图像"/>
          <p:cNvSpPr/>
          <p:nvPr>
            <p:ph type="pic" sz="half" idx="13"/>
          </p:nvPr>
        </p:nvSpPr>
        <p:spPr>
          <a:xfrm>
            <a:off x="13169900" y="3149600"/>
            <a:ext cx="95250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67" name="正文级别 1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正文级别 1…"/>
          <p:cNvSpPr txBox="1"/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图像"/>
          <p:cNvSpPr/>
          <p:nvPr>
            <p:ph type="pic" sz="quarter" idx="13"/>
          </p:nvPr>
        </p:nvSpPr>
        <p:spPr>
          <a:xfrm>
            <a:off x="15760700" y="7048500"/>
            <a:ext cx="740410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图像"/>
          <p:cNvSpPr/>
          <p:nvPr>
            <p:ph type="pic" sz="quarter" idx="14"/>
          </p:nvPr>
        </p:nvSpPr>
        <p:spPr>
          <a:xfrm>
            <a:off x="15760700" y="1130300"/>
            <a:ext cx="740410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图像"/>
          <p:cNvSpPr/>
          <p:nvPr>
            <p:ph type="pic" idx="15"/>
          </p:nvPr>
        </p:nvSpPr>
        <p:spPr>
          <a:xfrm>
            <a:off x="1206500" y="1130300"/>
            <a:ext cx="141732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13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32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在此键入引文。”"/>
          <p:cNvSpPr txBox="1"/>
          <p:nvPr>
            <p:ph type="body" sz="quarter" idx="14"/>
          </p:nvPr>
        </p:nvSpPr>
        <p:spPr>
          <a:xfrm>
            <a:off x="2387600" y="6013450"/>
            <a:ext cx="19621500" cy="9525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“在此键入引文。”</a:t>
            </a:r>
          </a:p>
        </p:txBody>
      </p:sp>
      <p:sp>
        <p:nvSpPr>
          <p:cNvPr id="9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图像"/>
          <p:cNvSpPr/>
          <p:nvPr>
            <p:ph type="pic" idx="13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幻灯片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iṡľiḋe"/>
          <p:cNvSpPr/>
          <p:nvPr/>
        </p:nvSpPr>
        <p:spPr>
          <a:xfrm>
            <a:off x="-55881" y="0"/>
            <a:ext cx="24439882" cy="13716000"/>
          </a:xfrm>
          <a:prstGeom prst="rect">
            <a:avLst/>
          </a:prstGeom>
          <a:gradFill>
            <a:gsLst>
              <a:gs pos="0">
                <a:srgbClr val="0836A4"/>
              </a:gs>
              <a:gs pos="100000">
                <a:srgbClr val="05048D"/>
              </a:gs>
            </a:gsLst>
            <a:lin ang="5400000"/>
          </a:gra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defRPr b="0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118" name="图片 6" descr="图片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63039" y="9185737"/>
            <a:ext cx="14857915" cy="4530265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正文级别 1…"/>
          <p:cNvSpPr txBox="1"/>
          <p:nvPr>
            <p:ph type="body" sz="quarter" idx="1"/>
          </p:nvPr>
        </p:nvSpPr>
        <p:spPr>
          <a:xfrm>
            <a:off x="5892796" y="6050367"/>
            <a:ext cx="12598404" cy="1117599"/>
          </a:xfrm>
          <a:prstGeom prst="rect">
            <a:avLst/>
          </a:prstGeom>
        </p:spPr>
        <p:txBody>
          <a:bodyPr lIns="91439" tIns="91439" rIns="91439" bIns="91439" anchor="t"/>
          <a:lstStyle>
            <a:lvl1pPr marL="0" indent="0" algn="ctr" defTabSz="1828707">
              <a:lnSpc>
                <a:spcPct val="90000"/>
              </a:lnSpc>
              <a:spcBef>
                <a:spcPts val="2000"/>
              </a:spcBef>
              <a:buSzTx/>
              <a:buNone/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indent="457178" algn="ctr" defTabSz="1828707">
              <a:lnSpc>
                <a:spcPct val="90000"/>
              </a:lnSpc>
              <a:spcBef>
                <a:spcPts val="2000"/>
              </a:spcBef>
              <a:buSzTx/>
              <a:buNone/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indent="914353" algn="ctr" defTabSz="1828707">
              <a:lnSpc>
                <a:spcPct val="90000"/>
              </a:lnSpc>
              <a:spcBef>
                <a:spcPts val="2000"/>
              </a:spcBef>
              <a:buSzTx/>
              <a:buNone/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indent="1371531" algn="ctr" defTabSz="1828707">
              <a:lnSpc>
                <a:spcPct val="90000"/>
              </a:lnSpc>
              <a:spcBef>
                <a:spcPts val="2000"/>
              </a:spcBef>
              <a:buSzTx/>
              <a:buNone/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indent="1828708" algn="ctr" defTabSz="1828707">
              <a:lnSpc>
                <a:spcPct val="90000"/>
              </a:lnSpc>
              <a:spcBef>
                <a:spcPts val="2000"/>
              </a:spcBef>
              <a:buSzTx/>
              <a:buNone/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0" name="标题文本"/>
          <p:cNvSpPr txBox="1"/>
          <p:nvPr>
            <p:ph type="title"/>
          </p:nvPr>
        </p:nvSpPr>
        <p:spPr>
          <a:xfrm>
            <a:off x="5892796" y="3547874"/>
            <a:ext cx="12598404" cy="2502497"/>
          </a:xfrm>
          <a:prstGeom prst="rect">
            <a:avLst/>
          </a:prstGeom>
        </p:spPr>
        <p:txBody>
          <a:bodyPr lIns="91439" tIns="91439" rIns="91439" bIns="91439" anchor="b"/>
          <a:lstStyle>
            <a:lvl1pPr defTabSz="1828707">
              <a:lnSpc>
                <a:spcPct val="90000"/>
              </a:lnSpc>
              <a:defRPr b="1" sz="8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21" name="ïṧḻîḍè"/>
          <p:cNvSpPr/>
          <p:nvPr/>
        </p:nvSpPr>
        <p:spPr>
          <a:xfrm>
            <a:off x="17075150" y="2583265"/>
            <a:ext cx="4597400" cy="4597401"/>
          </a:xfrm>
          <a:prstGeom prst="ellipse">
            <a:avLst/>
          </a:prstGeom>
          <a:solidFill>
            <a:srgbClr val="14FFFF">
              <a:alpha val="10000"/>
            </a:srgbClr>
          </a:soli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defRPr b="0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22" name="is1îḓê"/>
          <p:cNvSpPr/>
          <p:nvPr/>
        </p:nvSpPr>
        <p:spPr>
          <a:xfrm>
            <a:off x="21042991" y="2260600"/>
            <a:ext cx="1715409" cy="1715409"/>
          </a:xfrm>
          <a:prstGeom prst="ellipse">
            <a:avLst/>
          </a:prstGeom>
          <a:solidFill>
            <a:srgbClr val="14FFFF">
              <a:alpha val="20000"/>
            </a:srgbClr>
          </a:soli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defRPr b="0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23" name="ïṥļiḑê"/>
          <p:cNvSpPr/>
          <p:nvPr/>
        </p:nvSpPr>
        <p:spPr>
          <a:xfrm>
            <a:off x="-1212853" y="9170447"/>
            <a:ext cx="6343650" cy="6343650"/>
          </a:xfrm>
          <a:prstGeom prst="ellipse">
            <a:avLst/>
          </a:prstGeom>
          <a:solidFill>
            <a:srgbClr val="14FFFF">
              <a:alpha val="10000"/>
            </a:srgbClr>
          </a:soli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defRPr b="0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24" name="îSlíḓê"/>
          <p:cNvSpPr/>
          <p:nvPr/>
        </p:nvSpPr>
        <p:spPr>
          <a:xfrm>
            <a:off x="0" y="8693156"/>
            <a:ext cx="1711460" cy="1711461"/>
          </a:xfrm>
          <a:prstGeom prst="ellipse">
            <a:avLst/>
          </a:prstGeom>
          <a:solidFill>
            <a:srgbClr val="14FFFF">
              <a:alpha val="20000"/>
            </a:srgbClr>
          </a:soli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defRPr b="0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25" name="幻灯片编号"/>
          <p:cNvSpPr txBox="1"/>
          <p:nvPr>
            <p:ph type="sldNum" sz="quarter" idx="2"/>
          </p:nvPr>
        </p:nvSpPr>
        <p:spPr>
          <a:xfrm>
            <a:off x="11785600" y="12344400"/>
            <a:ext cx="5689600" cy="736601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 sz="20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 0">
    <p:bg>
      <p:bgPr>
        <a:gradFill flip="none" rotWithShape="1">
          <a:gsLst>
            <a:gs pos="0">
              <a:srgbClr val="05048D"/>
            </a:gs>
            <a:gs pos="100000">
              <a:srgbClr val="0836A4"/>
            </a:gs>
          </a:gsLst>
          <a:lin ang="27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幻灯片编号"/>
          <p:cNvSpPr txBox="1"/>
          <p:nvPr>
            <p:ph type="sldNum" sz="quarter" idx="2"/>
          </p:nvPr>
        </p:nvSpPr>
        <p:spPr>
          <a:xfrm>
            <a:off x="11785600" y="12344400"/>
            <a:ext cx="5689600" cy="736601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 sz="20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标题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iṧliḋe"/>
          <p:cNvSpPr/>
          <p:nvPr/>
        </p:nvSpPr>
        <p:spPr>
          <a:xfrm>
            <a:off x="-55881" y="0"/>
            <a:ext cx="24439882" cy="13716000"/>
          </a:xfrm>
          <a:prstGeom prst="rect">
            <a:avLst/>
          </a:prstGeom>
          <a:gradFill>
            <a:gsLst>
              <a:gs pos="0">
                <a:srgbClr val="05048D"/>
              </a:gs>
              <a:gs pos="100000">
                <a:srgbClr val="0836A4"/>
              </a:gs>
            </a:gsLst>
          </a:gra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defRPr b="0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40" name="标题文本"/>
          <p:cNvSpPr txBox="1"/>
          <p:nvPr>
            <p:ph type="title"/>
          </p:nvPr>
        </p:nvSpPr>
        <p:spPr>
          <a:xfrm>
            <a:off x="5186795" y="5067300"/>
            <a:ext cx="10838372" cy="1790700"/>
          </a:xfrm>
          <a:prstGeom prst="rect">
            <a:avLst/>
          </a:prstGeom>
        </p:spPr>
        <p:txBody>
          <a:bodyPr lIns="91439" tIns="91439" rIns="91439" bIns="91439" anchor="b"/>
          <a:lstStyle>
            <a:lvl1pPr algn="l" defTabSz="1828707">
              <a:lnSpc>
                <a:spcPct val="90000"/>
              </a:lnSpc>
              <a:defRPr b="1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41" name="正文级别 1…"/>
          <p:cNvSpPr txBox="1"/>
          <p:nvPr>
            <p:ph type="body" sz="quarter" idx="1"/>
          </p:nvPr>
        </p:nvSpPr>
        <p:spPr>
          <a:xfrm>
            <a:off x="5189027" y="6858000"/>
            <a:ext cx="10838372" cy="2031246"/>
          </a:xfrm>
          <a:prstGeom prst="rect">
            <a:avLst/>
          </a:prstGeom>
        </p:spPr>
        <p:txBody>
          <a:bodyPr lIns="91439" tIns="91439" rIns="91439" bIns="91439" anchor="t"/>
          <a:lstStyle>
            <a:lvl1pPr marL="0" indent="0" defTabSz="1828707">
              <a:lnSpc>
                <a:spcPct val="150000"/>
              </a:lnSpc>
              <a:spcBef>
                <a:spcPts val="0"/>
              </a:spcBef>
              <a:buSzTx/>
              <a:buNone/>
              <a:defRPr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indent="457178" defTabSz="1828707">
              <a:lnSpc>
                <a:spcPct val="150000"/>
              </a:lnSpc>
              <a:spcBef>
                <a:spcPts val="0"/>
              </a:spcBef>
              <a:buSzTx/>
              <a:buNone/>
              <a:defRPr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indent="914353" defTabSz="1828707">
              <a:lnSpc>
                <a:spcPct val="150000"/>
              </a:lnSpc>
              <a:spcBef>
                <a:spcPts val="0"/>
              </a:spcBef>
              <a:buSzTx/>
              <a:buNone/>
              <a:defRPr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indent="1371531" defTabSz="1828707">
              <a:lnSpc>
                <a:spcPct val="150000"/>
              </a:lnSpc>
              <a:spcBef>
                <a:spcPts val="0"/>
              </a:spcBef>
              <a:buSzTx/>
              <a:buNone/>
              <a:defRPr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indent="1828708" defTabSz="1828707">
              <a:lnSpc>
                <a:spcPct val="150000"/>
              </a:lnSpc>
              <a:spcBef>
                <a:spcPts val="0"/>
              </a:spcBef>
              <a:buSzTx/>
              <a:buNone/>
              <a:defRPr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pic>
        <p:nvPicPr>
          <p:cNvPr id="142" name="图片 2" descr="图片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16200000">
            <a:off x="16201499" y="4946065"/>
            <a:ext cx="12541137" cy="3823867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幻灯片编号"/>
          <p:cNvSpPr txBox="1"/>
          <p:nvPr>
            <p:ph type="sldNum" sz="quarter" idx="2"/>
          </p:nvPr>
        </p:nvSpPr>
        <p:spPr>
          <a:xfrm>
            <a:off x="11785600" y="12344400"/>
            <a:ext cx="5689600" cy="736601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 sz="20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任意多边形 1"/>
          <p:cNvSpPr/>
          <p:nvPr/>
        </p:nvSpPr>
        <p:spPr>
          <a:xfrm>
            <a:off x="-1" y="0"/>
            <a:ext cx="15072624" cy="13716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96" y="0"/>
                </a:moveTo>
                <a:cubicBezTo>
                  <a:pt x="14390" y="0"/>
                  <a:pt x="21600" y="7923"/>
                  <a:pt x="21600" y="17696"/>
                </a:cubicBezTo>
                <a:cubicBezTo>
                  <a:pt x="21600" y="18918"/>
                  <a:pt x="21487" y="20111"/>
                  <a:pt x="21273" y="21263"/>
                </a:cubicBezTo>
                <a:lnTo>
                  <a:pt x="21202" y="21600"/>
                </a:lnTo>
                <a:lnTo>
                  <a:pt x="12295" y="21600"/>
                </a:lnTo>
                <a:lnTo>
                  <a:pt x="12567" y="20979"/>
                </a:lnTo>
                <a:cubicBezTo>
                  <a:pt x="12955" y="19970"/>
                  <a:pt x="13170" y="18861"/>
                  <a:pt x="13170" y="17696"/>
                </a:cubicBezTo>
                <a:cubicBezTo>
                  <a:pt x="13170" y="13039"/>
                  <a:pt x="9735" y="9264"/>
                  <a:pt x="5496" y="9264"/>
                </a:cubicBezTo>
                <a:cubicBezTo>
                  <a:pt x="3377" y="9264"/>
                  <a:pt x="1459" y="10207"/>
                  <a:pt x="70" y="11733"/>
                </a:cubicBezTo>
                <a:lnTo>
                  <a:pt x="0" y="11818"/>
                </a:lnTo>
                <a:lnTo>
                  <a:pt x="0" y="1059"/>
                </a:lnTo>
                <a:lnTo>
                  <a:pt x="708" y="796"/>
                </a:lnTo>
                <a:cubicBezTo>
                  <a:pt x="2220" y="279"/>
                  <a:pt x="3829" y="0"/>
                  <a:pt x="5496" y="0"/>
                </a:cubicBezTo>
                <a:close/>
              </a:path>
            </a:pathLst>
          </a:custGeom>
          <a:solidFill>
            <a:srgbClr val="808080">
              <a:alpha val="5000"/>
            </a:srgbClr>
          </a:soli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defRPr b="0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15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51000" y="9554881"/>
            <a:ext cx="3733800" cy="3735669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幻灯片编号"/>
          <p:cNvSpPr txBox="1"/>
          <p:nvPr>
            <p:ph type="sldNum" sz="quarter" idx="2"/>
          </p:nvPr>
        </p:nvSpPr>
        <p:spPr>
          <a:xfrm>
            <a:off x="22562869" y="12453971"/>
            <a:ext cx="478106" cy="466672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 sz="20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53" name="标题文本"/>
          <p:cNvSpPr txBox="1"/>
          <p:nvPr>
            <p:ph type="title"/>
          </p:nvPr>
        </p:nvSpPr>
        <p:spPr>
          <a:xfrm>
            <a:off x="1339847" y="2"/>
            <a:ext cx="21701128" cy="2057399"/>
          </a:xfrm>
          <a:prstGeom prst="rect">
            <a:avLst/>
          </a:prstGeom>
        </p:spPr>
        <p:txBody>
          <a:bodyPr lIns="91439" tIns="91439" rIns="91439" bIns="91439" anchor="b"/>
          <a:lstStyle>
            <a:lvl1pPr algn="l" defTabSz="1828800">
              <a:lnSpc>
                <a:spcPct val="90000"/>
              </a:lnSpc>
              <a:defRPr b="1" sz="5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标题文本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任意多边形 1"/>
          <p:cNvSpPr/>
          <p:nvPr/>
        </p:nvSpPr>
        <p:spPr>
          <a:xfrm>
            <a:off x="-1" y="0"/>
            <a:ext cx="15072624" cy="13716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96" y="0"/>
                </a:moveTo>
                <a:cubicBezTo>
                  <a:pt x="14390" y="0"/>
                  <a:pt x="21600" y="7923"/>
                  <a:pt x="21600" y="17696"/>
                </a:cubicBezTo>
                <a:cubicBezTo>
                  <a:pt x="21600" y="18918"/>
                  <a:pt x="21487" y="20111"/>
                  <a:pt x="21273" y="21263"/>
                </a:cubicBezTo>
                <a:lnTo>
                  <a:pt x="21202" y="21600"/>
                </a:lnTo>
                <a:lnTo>
                  <a:pt x="12295" y="21600"/>
                </a:lnTo>
                <a:lnTo>
                  <a:pt x="12567" y="20979"/>
                </a:lnTo>
                <a:cubicBezTo>
                  <a:pt x="12955" y="19970"/>
                  <a:pt x="13170" y="18861"/>
                  <a:pt x="13170" y="17696"/>
                </a:cubicBezTo>
                <a:cubicBezTo>
                  <a:pt x="13170" y="13039"/>
                  <a:pt x="9735" y="9264"/>
                  <a:pt x="5496" y="9264"/>
                </a:cubicBezTo>
                <a:cubicBezTo>
                  <a:pt x="3377" y="9264"/>
                  <a:pt x="1459" y="10207"/>
                  <a:pt x="70" y="11733"/>
                </a:cubicBezTo>
                <a:lnTo>
                  <a:pt x="0" y="11818"/>
                </a:lnTo>
                <a:lnTo>
                  <a:pt x="0" y="1059"/>
                </a:lnTo>
                <a:lnTo>
                  <a:pt x="708" y="796"/>
                </a:lnTo>
                <a:cubicBezTo>
                  <a:pt x="2220" y="279"/>
                  <a:pt x="3829" y="0"/>
                  <a:pt x="5496" y="0"/>
                </a:cubicBezTo>
                <a:close/>
              </a:path>
            </a:pathLst>
          </a:custGeom>
          <a:solidFill>
            <a:srgbClr val="808080">
              <a:alpha val="5000"/>
            </a:srgbClr>
          </a:soli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defRPr b="0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61" name="幻灯片编号"/>
          <p:cNvSpPr txBox="1"/>
          <p:nvPr>
            <p:ph type="sldNum" sz="quarter" idx="2"/>
          </p:nvPr>
        </p:nvSpPr>
        <p:spPr>
          <a:xfrm>
            <a:off x="22562869" y="12453971"/>
            <a:ext cx="478106" cy="466672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 sz="20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62" name="标题文本"/>
          <p:cNvSpPr txBox="1"/>
          <p:nvPr>
            <p:ph type="title"/>
          </p:nvPr>
        </p:nvSpPr>
        <p:spPr>
          <a:xfrm>
            <a:off x="1339847" y="2"/>
            <a:ext cx="21701128" cy="2057399"/>
          </a:xfrm>
          <a:prstGeom prst="rect">
            <a:avLst/>
          </a:prstGeom>
        </p:spPr>
        <p:txBody>
          <a:bodyPr lIns="91439" tIns="91439" rIns="91439" bIns="91439" anchor="b"/>
          <a:lstStyle>
            <a:lvl1pPr algn="l" defTabSz="1828800">
              <a:lnSpc>
                <a:spcPct val="90000"/>
              </a:lnSpc>
              <a:defRPr b="1" sz="5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标题文本</a:t>
            </a:r>
          </a:p>
        </p:txBody>
      </p:sp>
      <p:pic>
        <p:nvPicPr>
          <p:cNvPr id="16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05000" y="9448800"/>
            <a:ext cx="3895727" cy="38957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64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00665" y="9437436"/>
            <a:ext cx="3733801" cy="37356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文本框 1"/>
          <p:cNvSpPr txBox="1"/>
          <p:nvPr/>
        </p:nvSpPr>
        <p:spPr>
          <a:xfrm>
            <a:off x="8636000" y="5943600"/>
            <a:ext cx="7112000" cy="462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algn="l" defTabSz="914400">
              <a:defRPr b="0" sz="600">
                <a:solidFill>
                  <a:srgbClr val="FFFFFF">
                    <a:alpha val="0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感谢您下载包图网平台上提供的</a:t>
            </a:r>
            <a:r>
              <a:t>PPT</a:t>
            </a:r>
            <a:r>
              <a:t>作品，为了您和包图网以及原创作者的利益，请勿复制、传播、销售，否则将承担法律责任！包图网将对作品进行维权，按照传播下载次数进行十倍的索取赔偿！</a:t>
            </a:r>
          </a:p>
          <a:p>
            <a:pPr algn="l" defTabSz="914400">
              <a:defRPr b="0" sz="1200">
                <a:solidFill>
                  <a:srgbClr val="FFFFFF">
                    <a:alpha val="0"/>
                  </a:srgbClr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ibaotu.com</a:t>
            </a:r>
          </a:p>
        </p:txBody>
      </p:sp>
      <p:sp>
        <p:nvSpPr>
          <p:cNvPr id="172" name="矩形 2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tIns="91439" bIns="91439" anchor="ctr"/>
          <a:lstStyle/>
          <a:p>
            <a:pPr defTabSz="914400">
              <a:defRPr b="0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73" name="幻灯片编号"/>
          <p:cNvSpPr txBox="1"/>
          <p:nvPr>
            <p:ph type="sldNum" sz="quarter" idx="2"/>
          </p:nvPr>
        </p:nvSpPr>
        <p:spPr>
          <a:xfrm>
            <a:off x="11785600" y="12344400"/>
            <a:ext cx="5689600" cy="736601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914400">
              <a:defRPr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任意多边形 1"/>
          <p:cNvSpPr/>
          <p:nvPr/>
        </p:nvSpPr>
        <p:spPr>
          <a:xfrm>
            <a:off x="-1" y="0"/>
            <a:ext cx="15072624" cy="13716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96" y="0"/>
                </a:moveTo>
                <a:cubicBezTo>
                  <a:pt x="14390" y="0"/>
                  <a:pt x="21600" y="7923"/>
                  <a:pt x="21600" y="17696"/>
                </a:cubicBezTo>
                <a:cubicBezTo>
                  <a:pt x="21600" y="18918"/>
                  <a:pt x="21487" y="20111"/>
                  <a:pt x="21273" y="21263"/>
                </a:cubicBezTo>
                <a:lnTo>
                  <a:pt x="21202" y="21600"/>
                </a:lnTo>
                <a:lnTo>
                  <a:pt x="12295" y="21600"/>
                </a:lnTo>
                <a:lnTo>
                  <a:pt x="12567" y="20979"/>
                </a:lnTo>
                <a:cubicBezTo>
                  <a:pt x="12955" y="19970"/>
                  <a:pt x="13170" y="18861"/>
                  <a:pt x="13170" y="17696"/>
                </a:cubicBezTo>
                <a:cubicBezTo>
                  <a:pt x="13170" y="13039"/>
                  <a:pt x="9735" y="9264"/>
                  <a:pt x="5496" y="9264"/>
                </a:cubicBezTo>
                <a:cubicBezTo>
                  <a:pt x="3377" y="9264"/>
                  <a:pt x="1459" y="10207"/>
                  <a:pt x="70" y="11733"/>
                </a:cubicBezTo>
                <a:lnTo>
                  <a:pt x="0" y="11818"/>
                </a:lnTo>
                <a:lnTo>
                  <a:pt x="0" y="1059"/>
                </a:lnTo>
                <a:lnTo>
                  <a:pt x="708" y="796"/>
                </a:lnTo>
                <a:cubicBezTo>
                  <a:pt x="2220" y="279"/>
                  <a:pt x="3829" y="0"/>
                  <a:pt x="5496" y="0"/>
                </a:cubicBezTo>
                <a:close/>
              </a:path>
            </a:pathLst>
          </a:custGeom>
          <a:solidFill>
            <a:srgbClr val="808080">
              <a:alpha val="5000"/>
            </a:srgbClr>
          </a:solidFill>
          <a:ln w="12700">
            <a:miter lim="400000"/>
          </a:ln>
        </p:spPr>
        <p:txBody>
          <a:bodyPr tIns="91439" bIns="91439" anchor="ctr"/>
          <a:lstStyle/>
          <a:p>
            <a:pPr defTabSz="1828800">
              <a:defRPr b="0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81" name="幻灯片编号"/>
          <p:cNvSpPr txBox="1"/>
          <p:nvPr>
            <p:ph type="sldNum" sz="quarter" idx="2"/>
          </p:nvPr>
        </p:nvSpPr>
        <p:spPr>
          <a:xfrm>
            <a:off x="22562869" y="12453971"/>
            <a:ext cx="478106" cy="466672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 sz="2000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82" name="标题文本"/>
          <p:cNvSpPr txBox="1"/>
          <p:nvPr>
            <p:ph type="title"/>
          </p:nvPr>
        </p:nvSpPr>
        <p:spPr>
          <a:xfrm>
            <a:off x="1339847" y="2"/>
            <a:ext cx="21701128" cy="2057399"/>
          </a:xfrm>
          <a:prstGeom prst="rect">
            <a:avLst/>
          </a:prstGeom>
        </p:spPr>
        <p:txBody>
          <a:bodyPr lIns="91439" tIns="91439" rIns="91439" bIns="91439" anchor="b"/>
          <a:lstStyle>
            <a:lvl1pPr algn="l" defTabSz="1828800">
              <a:lnSpc>
                <a:spcPct val="90000"/>
              </a:lnSpc>
              <a:defRPr b="1" sz="5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标题文本</a:t>
            </a:r>
          </a:p>
        </p:txBody>
      </p:sp>
      <p:pic>
        <p:nvPicPr>
          <p:cNvPr id="18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05000" y="9448800"/>
            <a:ext cx="3895727" cy="38957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31925" y="8975725"/>
            <a:ext cx="4841873" cy="484187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b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9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2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işḻídê"/>
          <p:cNvSpPr txBox="1"/>
          <p:nvPr>
            <p:ph type="title"/>
          </p:nvPr>
        </p:nvSpPr>
        <p:spPr>
          <a:xfrm>
            <a:off x="5699136" y="4315320"/>
            <a:ext cx="12598405" cy="3212647"/>
          </a:xfrm>
          <a:prstGeom prst="rect">
            <a:avLst/>
          </a:prstGeom>
        </p:spPr>
        <p:txBody>
          <a:bodyPr/>
          <a:lstStyle>
            <a:lvl1pPr defTabSz="1609263">
              <a:defRPr sz="16896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账户分析</a:t>
            </a:r>
          </a:p>
        </p:txBody>
      </p:sp>
      <p:pic>
        <p:nvPicPr>
          <p:cNvPr id="194" name="Picture 42" descr="Picture 4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2919" y="502315"/>
            <a:ext cx="2392681" cy="6762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95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233420" y="469720"/>
            <a:ext cx="2532379" cy="7342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矩形"/>
          <p:cNvSpPr/>
          <p:nvPr/>
        </p:nvSpPr>
        <p:spPr>
          <a:xfrm>
            <a:off x="-151856" y="-151978"/>
            <a:ext cx="25509177" cy="14019956"/>
          </a:xfrm>
          <a:prstGeom prst="rect">
            <a:avLst/>
          </a:prstGeom>
          <a:solidFill>
            <a:srgbClr val="061495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b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198" name="Slide Number Placeholder 44"/>
          <p:cNvSpPr txBox="1"/>
          <p:nvPr>
            <p:ph type="sldNum" sz="quarter" idx="2"/>
          </p:nvPr>
        </p:nvSpPr>
        <p:spPr>
          <a:xfrm>
            <a:off x="22704132" y="12453971"/>
            <a:ext cx="336843" cy="4666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99" name="图层 1.png" descr="图层 1.png"/>
          <p:cNvPicPr>
            <a:picLocks noChangeAspect="1"/>
          </p:cNvPicPr>
          <p:nvPr/>
        </p:nvPicPr>
        <p:blipFill>
          <a:blip r:embed="rId2">
            <a:alphaModFix amt="70317"/>
            <a:extLst/>
          </a:blip>
          <a:srcRect l="26" t="0" r="26" b="0"/>
          <a:stretch>
            <a:fillRect/>
          </a:stretch>
        </p:blipFill>
        <p:spPr>
          <a:xfrm>
            <a:off x="1917152" y="1139014"/>
            <a:ext cx="8601173" cy="12582711"/>
          </a:xfrm>
          <a:prstGeom prst="rect">
            <a:avLst/>
          </a:prstGeom>
          <a:ln w="12700">
            <a:miter lim="400000"/>
          </a:ln>
        </p:spPr>
      </p:pic>
      <p:sp>
        <p:nvSpPr>
          <p:cNvPr id="200" name="文本框 3"/>
          <p:cNvSpPr txBox="1"/>
          <p:nvPr/>
        </p:nvSpPr>
        <p:spPr>
          <a:xfrm>
            <a:off x="11550512" y="2992446"/>
            <a:ext cx="12483470" cy="802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algn="l" defTabSz="914400">
              <a:lnSpc>
                <a:spcPct val="120000"/>
              </a:lnSpc>
              <a:defRPr sz="3200">
                <a:solidFill>
                  <a:srgbClr val="F9B439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行情风生水起</a:t>
            </a:r>
          </a:p>
          <a:p>
            <a:pPr algn="l" defTabSz="914400">
              <a:lnSpc>
                <a:spcPct val="120000"/>
              </a:lnSpc>
              <a:defRPr sz="6400">
                <a:solidFill>
                  <a:srgbClr val="F9B439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交易热火朝天</a:t>
            </a:r>
          </a:p>
          <a:p>
            <a:pPr algn="l" defTabSz="914400">
              <a:lnSpc>
                <a:spcPct val="120000"/>
              </a:lnSpc>
              <a:defRPr b="0" sz="4800">
                <a:solidFill>
                  <a:srgbClr val="F9B439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可是</a:t>
            </a:r>
          </a:p>
          <a:p>
            <a:pPr algn="l" defTabSz="914400">
              <a:lnSpc>
                <a:spcPct val="120000"/>
              </a:lnSpc>
              <a:defRPr sz="8900">
                <a:solidFill>
                  <a:srgbClr val="F9B439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我到底交易做得怎样？</a:t>
            </a:r>
            <a:endParaRPr sz="8000"/>
          </a:p>
          <a:p>
            <a:pPr algn="l" defTabSz="914400">
              <a:lnSpc>
                <a:spcPct val="120000"/>
              </a:lnSpc>
              <a:defRPr sz="6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收盘后，上哪复习？</a:t>
            </a:r>
            <a:endParaRPr sz="4800"/>
          </a:p>
          <a:p>
            <a:pPr algn="l" defTabSz="914400">
              <a:lnSpc>
                <a:spcPct val="120000"/>
              </a:lnSpc>
              <a:defRPr sz="3200">
                <a:solidFill>
                  <a:srgbClr val="F9B439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谁来带我复盘？</a:t>
            </a:r>
          </a:p>
          <a:p>
            <a:pPr algn="l" defTabSz="914400">
              <a:lnSpc>
                <a:spcPct val="120000"/>
              </a:lnSpc>
              <a:defRPr sz="4800">
                <a:solidFill>
                  <a:srgbClr val="F9B439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今年比去年做得更好吗？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8" presetID="22" grpId="2" fill="hold">
                                  <p:stCondLst>
                                    <p:cond delay="5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0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99" grpId="1"/>
      <p:bldP build="whole" bldLvl="1" animBg="1" rev="0" advAuto="0" spid="200" grpId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itle 2"/>
          <p:cNvSpPr txBox="1"/>
          <p:nvPr>
            <p:ph type="title"/>
          </p:nvPr>
        </p:nvSpPr>
        <p:spPr>
          <a:xfrm>
            <a:off x="1339847" y="1"/>
            <a:ext cx="21701128" cy="2057400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831A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▌</a:t>
            </a:r>
            <a:r>
              <a:rPr>
                <a:solidFill>
                  <a:srgbClr val="000000"/>
                </a:solidFill>
              </a:rPr>
              <a:t>功能总览</a:t>
            </a:r>
          </a:p>
        </p:txBody>
      </p:sp>
      <p:sp>
        <p:nvSpPr>
          <p:cNvPr id="203" name="Slide Number Placeholder 34"/>
          <p:cNvSpPr txBox="1"/>
          <p:nvPr>
            <p:ph type="sldNum" sz="quarter" idx="2"/>
          </p:nvPr>
        </p:nvSpPr>
        <p:spPr>
          <a:xfrm>
            <a:off x="22704132" y="12453971"/>
            <a:ext cx="336843" cy="4666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04" name="圆角矩形"/>
          <p:cNvSpPr/>
          <p:nvPr/>
        </p:nvSpPr>
        <p:spPr>
          <a:xfrm>
            <a:off x="9385864" y="3916372"/>
            <a:ext cx="4606161" cy="8436252"/>
          </a:xfrm>
          <a:prstGeom prst="roundRect">
            <a:avLst>
              <a:gd name="adj" fmla="val 10058"/>
            </a:avLst>
          </a:prstGeom>
          <a:solidFill>
            <a:srgbClr val="FFFFFF"/>
          </a:solidFill>
          <a:ln w="25400">
            <a:solidFill>
              <a:srgbClr val="535353"/>
            </a:solidFill>
            <a:custDash>
              <a:ds d="200000" sp="200000"/>
            </a:custDash>
            <a:miter lim="400000"/>
          </a:ln>
        </p:spPr>
        <p:txBody>
          <a:bodyPr lIns="91436" tIns="91436" rIns="91436" bIns="91436" anchor="ctr"/>
          <a:lstStyle/>
          <a:p>
            <a:pPr algn="l" defTabSz="1828800">
              <a:defRPr b="0" sz="36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05" name="综合应用人脸识别、语音识别等技术，在视频见证环节针对音视频流进行实时检验， 及时纠正用户不规范操作，减少审核人员工作量。实现7*24小时单项开户。"/>
          <p:cNvSpPr txBox="1"/>
          <p:nvPr/>
        </p:nvSpPr>
        <p:spPr>
          <a:xfrm>
            <a:off x="1353454" y="2350629"/>
            <a:ext cx="21684348" cy="1440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algn="l" defTabSz="914400">
              <a:lnSpc>
                <a:spcPct val="120000"/>
              </a:lnSpc>
              <a:spcBef>
                <a:spcPts val="2400"/>
              </a:spcBef>
              <a:defRPr b="0" sz="3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包括基本信息查询、基本评估、交易分析、趋势分析，超全面信息查询，专业的分析工具——不同的工具组合，满足各类投资者的需求。</a:t>
            </a:r>
          </a:p>
        </p:txBody>
      </p:sp>
      <p:grpSp>
        <p:nvGrpSpPr>
          <p:cNvPr id="208" name="成组"/>
          <p:cNvGrpSpPr/>
          <p:nvPr/>
        </p:nvGrpSpPr>
        <p:grpSpPr>
          <a:xfrm>
            <a:off x="9953180" y="4482619"/>
            <a:ext cx="3471528" cy="7303759"/>
            <a:chOff x="0" y="-2"/>
            <a:chExt cx="3471527" cy="7303758"/>
          </a:xfrm>
        </p:grpSpPr>
        <p:sp>
          <p:nvSpPr>
            <p:cNvPr id="206" name="圆角矩形"/>
            <p:cNvSpPr/>
            <p:nvPr/>
          </p:nvSpPr>
          <p:spPr>
            <a:xfrm>
              <a:off x="0" y="-3"/>
              <a:ext cx="3471528" cy="7303759"/>
            </a:xfrm>
            <a:prstGeom prst="roundRect">
              <a:avLst>
                <a:gd name="adj" fmla="val 9757"/>
              </a:avLst>
            </a:prstGeom>
            <a:solidFill>
              <a:srgbClr val="FFFFFF"/>
            </a:solidFill>
            <a:ln w="228600" cap="flat">
              <a:solidFill>
                <a:srgbClr val="444444"/>
              </a:solidFill>
              <a:prstDash val="solid"/>
              <a:round/>
            </a:ln>
            <a:effectLst/>
          </p:spPr>
          <p:txBody>
            <a:bodyPr wrap="square" lIns="91436" tIns="91436" rIns="91436" bIns="91436" numCol="1" anchor="ctr">
              <a:noAutofit/>
            </a:bodyPr>
            <a:lstStyle/>
            <a:p>
              <a:pPr algn="l" defTabSz="1828800">
                <a:defRPr b="0" sz="3600">
                  <a:latin typeface="微软雅黑"/>
                  <a:ea typeface="微软雅黑"/>
                  <a:cs typeface="微软雅黑"/>
                  <a:sym typeface="微软雅黑"/>
                </a:defRPr>
              </a:pPr>
            </a:p>
          </p:txBody>
        </p:sp>
        <p:pic>
          <p:nvPicPr>
            <p:cNvPr id="207" name="阅读协议第一条协议@3x.png" descr="阅读协议第一条协议@3x.pn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2471" r="5" b="7561"/>
            <a:stretch>
              <a:fillRect/>
            </a:stretch>
          </p:blipFill>
          <p:spPr>
            <a:xfrm>
              <a:off x="44109" y="41303"/>
              <a:ext cx="3382964" cy="72211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4" h="21597" fill="norm" stroke="1" extrusionOk="0">
                  <a:moveTo>
                    <a:pt x="3263" y="0"/>
                  </a:moveTo>
                  <a:cubicBezTo>
                    <a:pt x="2324" y="0"/>
                    <a:pt x="1846" y="-1"/>
                    <a:pt x="1345" y="74"/>
                  </a:cubicBezTo>
                  <a:cubicBezTo>
                    <a:pt x="793" y="168"/>
                    <a:pt x="358" y="374"/>
                    <a:pt x="157" y="632"/>
                  </a:cubicBezTo>
                  <a:cubicBezTo>
                    <a:pt x="-3" y="869"/>
                    <a:pt x="0" y="1090"/>
                    <a:pt x="0" y="1529"/>
                  </a:cubicBezTo>
                  <a:lnTo>
                    <a:pt x="0" y="20064"/>
                  </a:lnTo>
                  <a:cubicBezTo>
                    <a:pt x="0" y="20510"/>
                    <a:pt x="-3" y="20731"/>
                    <a:pt x="157" y="20967"/>
                  </a:cubicBezTo>
                  <a:cubicBezTo>
                    <a:pt x="358" y="21226"/>
                    <a:pt x="793" y="21430"/>
                    <a:pt x="1345" y="21524"/>
                  </a:cubicBezTo>
                  <a:cubicBezTo>
                    <a:pt x="1849" y="21599"/>
                    <a:pt x="2327" y="21598"/>
                    <a:pt x="3263" y="21598"/>
                  </a:cubicBezTo>
                  <a:lnTo>
                    <a:pt x="18316" y="21598"/>
                  </a:lnTo>
                  <a:cubicBezTo>
                    <a:pt x="19266" y="21598"/>
                    <a:pt x="19740" y="21599"/>
                    <a:pt x="20244" y="21524"/>
                  </a:cubicBezTo>
                  <a:cubicBezTo>
                    <a:pt x="20796" y="21430"/>
                    <a:pt x="21236" y="21226"/>
                    <a:pt x="21437" y="20967"/>
                  </a:cubicBezTo>
                  <a:cubicBezTo>
                    <a:pt x="21597" y="20731"/>
                    <a:pt x="21594" y="20509"/>
                    <a:pt x="21594" y="20071"/>
                  </a:cubicBezTo>
                  <a:lnTo>
                    <a:pt x="21594" y="1534"/>
                  </a:lnTo>
                  <a:cubicBezTo>
                    <a:pt x="21594" y="1089"/>
                    <a:pt x="21597" y="869"/>
                    <a:pt x="21437" y="632"/>
                  </a:cubicBezTo>
                  <a:cubicBezTo>
                    <a:pt x="21236" y="374"/>
                    <a:pt x="20796" y="168"/>
                    <a:pt x="20244" y="74"/>
                  </a:cubicBezTo>
                  <a:cubicBezTo>
                    <a:pt x="19740" y="-1"/>
                    <a:pt x="19267" y="0"/>
                    <a:pt x="18331" y="0"/>
                  </a:cubicBezTo>
                  <a:lnTo>
                    <a:pt x="3273" y="0"/>
                  </a:lnTo>
                  <a:lnTo>
                    <a:pt x="3263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grpSp>
        <p:nvGrpSpPr>
          <p:cNvPr id="211" name="Group 33"/>
          <p:cNvGrpSpPr/>
          <p:nvPr/>
        </p:nvGrpSpPr>
        <p:grpSpPr>
          <a:xfrm>
            <a:off x="2423069" y="4906089"/>
            <a:ext cx="5615092" cy="3503747"/>
            <a:chOff x="-1568716" y="-55278"/>
            <a:chExt cx="5615091" cy="3503745"/>
          </a:xfrm>
        </p:grpSpPr>
        <p:sp>
          <p:nvSpPr>
            <p:cNvPr id="209" name="人脸对比"/>
            <p:cNvSpPr txBox="1"/>
            <p:nvPr/>
          </p:nvSpPr>
          <p:spPr>
            <a:xfrm>
              <a:off x="1451655" y="-55279"/>
              <a:ext cx="2594720" cy="7924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6" tIns="91436" rIns="91436" bIns="91436" numCol="1" anchor="t">
              <a:spAutoFit/>
            </a:bodyPr>
            <a:lstStyle>
              <a:lvl1pPr algn="l" defTabSz="1828800">
                <a:defRPr sz="3400"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pPr/>
              <a:r>
                <a:t>1、信息查询</a:t>
              </a:r>
            </a:p>
          </p:txBody>
        </p:sp>
        <p:sp>
          <p:nvSpPr>
            <p:cNvPr id="210" name="自动捕获客户正面照，与公安库对接实现身份核验"/>
            <p:cNvSpPr txBox="1"/>
            <p:nvPr/>
          </p:nvSpPr>
          <p:spPr>
            <a:xfrm>
              <a:off x="-1568717" y="725595"/>
              <a:ext cx="5545225" cy="27228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6" tIns="91436" rIns="91436" bIns="91436" numCol="1" anchor="t">
              <a:spAutoFit/>
            </a:bodyPr>
            <a:lstStyle>
              <a:lvl1pPr algn="just" defTabSz="1828800">
                <a:defRPr b="0" sz="2800"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pPr/>
              <a:r>
                <a:t>资金状况、出入金、委托成交、持仓汇总、平仓明细、交割明细、行权明细、质押明细、资金流水、结算单，各类交易相关数据尽在掌握。</a:t>
              </a:r>
            </a:p>
          </p:txBody>
        </p:sp>
      </p:grpSp>
      <p:grpSp>
        <p:nvGrpSpPr>
          <p:cNvPr id="214" name="Group 34"/>
          <p:cNvGrpSpPr/>
          <p:nvPr/>
        </p:nvGrpSpPr>
        <p:grpSpPr>
          <a:xfrm>
            <a:off x="1814582" y="9059508"/>
            <a:ext cx="6247450" cy="1423988"/>
            <a:chOff x="-1872615" y="0"/>
            <a:chExt cx="6247449" cy="1423987"/>
          </a:xfrm>
        </p:grpSpPr>
        <p:sp>
          <p:nvSpPr>
            <p:cNvPr id="212" name="在框检测"/>
            <p:cNvSpPr txBox="1"/>
            <p:nvPr/>
          </p:nvSpPr>
          <p:spPr>
            <a:xfrm>
              <a:off x="1780114" y="0"/>
              <a:ext cx="2594720" cy="7924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6" tIns="91436" rIns="91436" bIns="91436" numCol="1" anchor="t">
              <a:spAutoFit/>
            </a:bodyPr>
            <a:lstStyle>
              <a:lvl1pPr algn="l" defTabSz="1828800">
                <a:defRPr sz="3400"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pPr/>
              <a:r>
                <a:t>2、基本评估</a:t>
              </a:r>
            </a:p>
          </p:txBody>
        </p:sp>
        <p:sp>
          <p:nvSpPr>
            <p:cNvPr id="213" name="自动检测侧脸、低头、不在框，检测在框人数，规范开户者行为，提高合规率"/>
            <p:cNvSpPr txBox="1"/>
            <p:nvPr/>
          </p:nvSpPr>
          <p:spPr>
            <a:xfrm>
              <a:off x="-1872616" y="733115"/>
              <a:ext cx="6094668" cy="6908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6" tIns="91436" rIns="91436" bIns="91436" numCol="1" anchor="t">
              <a:spAutoFit/>
            </a:bodyPr>
            <a:lstStyle>
              <a:lvl1pPr algn="r" defTabSz="1828800">
                <a:defRPr b="0" sz="2800"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pPr/>
              <a:r>
                <a:t>账户总览、持仓统计、基本分析</a:t>
              </a:r>
            </a:p>
          </p:txBody>
        </p:sp>
      </p:grpSp>
      <p:grpSp>
        <p:nvGrpSpPr>
          <p:cNvPr id="217" name="Group 36"/>
          <p:cNvGrpSpPr/>
          <p:nvPr/>
        </p:nvGrpSpPr>
        <p:grpSpPr>
          <a:xfrm>
            <a:off x="15489773" y="4760926"/>
            <a:ext cx="3976509" cy="2432470"/>
            <a:chOff x="0" y="0"/>
            <a:chExt cx="3976508" cy="2432469"/>
          </a:xfrm>
        </p:grpSpPr>
        <p:sp>
          <p:nvSpPr>
            <p:cNvPr id="215" name="活体检测"/>
            <p:cNvSpPr txBox="1"/>
            <p:nvPr/>
          </p:nvSpPr>
          <p:spPr>
            <a:xfrm>
              <a:off x="-1" y="-1"/>
              <a:ext cx="2594720" cy="7924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6" tIns="91436" rIns="91436" bIns="91436" numCol="1" anchor="t">
              <a:spAutoFit/>
            </a:bodyPr>
            <a:lstStyle>
              <a:lvl1pPr algn="l" defTabSz="1828800">
                <a:defRPr sz="3400"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pPr/>
              <a:r>
                <a:t>3、交易分析</a:t>
              </a:r>
            </a:p>
          </p:txBody>
        </p:sp>
        <p:sp>
          <p:nvSpPr>
            <p:cNvPr id="216" name="读数、动作等方式识别并且结合人脸对比，判断是否为活体"/>
            <p:cNvSpPr txBox="1"/>
            <p:nvPr/>
          </p:nvSpPr>
          <p:spPr>
            <a:xfrm>
              <a:off x="-1" y="725597"/>
              <a:ext cx="3976509" cy="17068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6" tIns="91436" rIns="91436" bIns="91436" numCol="1" anchor="t">
              <a:spAutoFit/>
            </a:bodyPr>
            <a:lstStyle>
              <a:lvl1pPr algn="just" defTabSz="1828800">
                <a:defRPr b="0" sz="2800"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pPr/>
              <a:r>
                <a:t>收益率曲线、盈亏分析、品种盈亏、盈亏比分析、风险度分析</a:t>
              </a:r>
            </a:p>
          </p:txBody>
        </p:sp>
      </p:grpSp>
      <p:grpSp>
        <p:nvGrpSpPr>
          <p:cNvPr id="220" name="Group 37"/>
          <p:cNvGrpSpPr/>
          <p:nvPr/>
        </p:nvGrpSpPr>
        <p:grpSpPr>
          <a:xfrm>
            <a:off x="15489773" y="8998194"/>
            <a:ext cx="3976509" cy="2432468"/>
            <a:chOff x="0" y="0"/>
            <a:chExt cx="3976508" cy="2432467"/>
          </a:xfrm>
        </p:grpSpPr>
        <p:sp>
          <p:nvSpPr>
            <p:cNvPr id="218" name="智能语音识别"/>
            <p:cNvSpPr txBox="1"/>
            <p:nvPr/>
          </p:nvSpPr>
          <p:spPr>
            <a:xfrm>
              <a:off x="-1" y="-1"/>
              <a:ext cx="2594720" cy="7924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6" tIns="91436" rIns="91436" bIns="91436" numCol="1" anchor="t">
              <a:spAutoFit/>
            </a:bodyPr>
            <a:lstStyle>
              <a:lvl1pPr algn="l" defTabSz="1828800">
                <a:defRPr sz="3400"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pPr/>
              <a:r>
                <a:t>4、趋势分析</a:t>
              </a:r>
            </a:p>
          </p:txBody>
        </p:sp>
        <p:sp>
          <p:nvSpPr>
            <p:cNvPr id="219" name="支持用户语音转文字，同时识别回答是否合规。"/>
            <p:cNvSpPr txBox="1"/>
            <p:nvPr/>
          </p:nvSpPr>
          <p:spPr>
            <a:xfrm>
              <a:off x="-1" y="725595"/>
              <a:ext cx="3976509" cy="17068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6" tIns="91436" rIns="91436" bIns="91436" numCol="1" anchor="t">
              <a:spAutoFit/>
            </a:bodyPr>
            <a:lstStyle>
              <a:lvl1pPr algn="just" defTabSz="1828800">
                <a:defRPr b="0" sz="2800">
                  <a:latin typeface="微软雅黑"/>
                  <a:ea typeface="微软雅黑"/>
                  <a:cs typeface="微软雅黑"/>
                  <a:sym typeface="微软雅黑"/>
                </a:defRPr>
              </a:lvl1pPr>
            </a:lstStyle>
            <a:p>
              <a:pPr/>
              <a:r>
                <a:t>复权资金、资金回报率、保证金回报率、跨度盈亏</a:t>
              </a:r>
            </a:p>
          </p:txBody>
        </p:sp>
      </p:grpSp>
      <p:sp>
        <p:nvSpPr>
          <p:cNvPr id="221" name="圆形"/>
          <p:cNvSpPr/>
          <p:nvPr/>
        </p:nvSpPr>
        <p:spPr>
          <a:xfrm>
            <a:off x="14808200" y="5111001"/>
            <a:ext cx="148105" cy="148109"/>
          </a:xfrm>
          <a:prstGeom prst="ellipse">
            <a:avLst/>
          </a:prstGeom>
          <a:solidFill>
            <a:srgbClr val="3366CC"/>
          </a:solidFill>
          <a:ln w="12700">
            <a:miter lim="400000"/>
          </a:ln>
        </p:spPr>
        <p:txBody>
          <a:bodyPr lIns="91436" tIns="91436" rIns="91436" bIns="91436" anchor="ctr"/>
          <a:lstStyle/>
          <a:p>
            <a:pPr algn="l" defTabSz="1828800">
              <a:defRPr b="0" sz="36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22" name="圆形"/>
          <p:cNvSpPr/>
          <p:nvPr/>
        </p:nvSpPr>
        <p:spPr>
          <a:xfrm>
            <a:off x="14808200" y="9314301"/>
            <a:ext cx="148105" cy="148109"/>
          </a:xfrm>
          <a:prstGeom prst="ellipse">
            <a:avLst/>
          </a:prstGeom>
          <a:solidFill>
            <a:srgbClr val="3366CC"/>
          </a:solidFill>
          <a:ln w="12700">
            <a:miter lim="400000"/>
          </a:ln>
        </p:spPr>
        <p:txBody>
          <a:bodyPr lIns="91436" tIns="91436" rIns="91436" bIns="91436" anchor="ctr"/>
          <a:lstStyle/>
          <a:p>
            <a:pPr algn="l" defTabSz="1828800">
              <a:defRPr b="0" sz="36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23" name="线条"/>
          <p:cNvSpPr/>
          <p:nvPr/>
        </p:nvSpPr>
        <p:spPr>
          <a:xfrm>
            <a:off x="13946976" y="5185054"/>
            <a:ext cx="918401" cy="4"/>
          </a:xfrm>
          <a:prstGeom prst="line">
            <a:avLst/>
          </a:prstGeom>
          <a:ln w="50800">
            <a:solidFill>
              <a:srgbClr val="4472C4"/>
            </a:solidFill>
          </a:ln>
        </p:spPr>
        <p:txBody>
          <a:bodyPr lIns="91437" tIns="91437" rIns="91437" bIns="91437"/>
          <a:lstStyle/>
          <a:p>
            <a:pPr algn="l" defTabSz="1828800">
              <a:defRPr b="0" sz="36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24" name="线条"/>
          <p:cNvSpPr/>
          <p:nvPr/>
        </p:nvSpPr>
        <p:spPr>
          <a:xfrm>
            <a:off x="13946976" y="9388352"/>
            <a:ext cx="918401" cy="5"/>
          </a:xfrm>
          <a:prstGeom prst="line">
            <a:avLst/>
          </a:prstGeom>
          <a:ln w="50800">
            <a:solidFill>
              <a:srgbClr val="4472C4"/>
            </a:solidFill>
          </a:ln>
        </p:spPr>
        <p:txBody>
          <a:bodyPr lIns="91437" tIns="91437" rIns="91437" bIns="91437"/>
          <a:lstStyle/>
          <a:p>
            <a:pPr algn="l" defTabSz="1828800">
              <a:defRPr b="0" sz="36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25" name="线条"/>
          <p:cNvSpPr/>
          <p:nvPr/>
        </p:nvSpPr>
        <p:spPr>
          <a:xfrm>
            <a:off x="8512516" y="5312054"/>
            <a:ext cx="918401" cy="4"/>
          </a:xfrm>
          <a:prstGeom prst="line">
            <a:avLst/>
          </a:prstGeom>
          <a:ln w="50800">
            <a:solidFill>
              <a:srgbClr val="4472C4"/>
            </a:solidFill>
          </a:ln>
        </p:spPr>
        <p:txBody>
          <a:bodyPr lIns="91437" tIns="91437" rIns="91437" bIns="91437"/>
          <a:lstStyle/>
          <a:p>
            <a:pPr algn="l" defTabSz="1828800">
              <a:defRPr b="0" sz="36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26" name="线条"/>
          <p:cNvSpPr/>
          <p:nvPr/>
        </p:nvSpPr>
        <p:spPr>
          <a:xfrm>
            <a:off x="8512516" y="9388352"/>
            <a:ext cx="918401" cy="5"/>
          </a:xfrm>
          <a:prstGeom prst="line">
            <a:avLst/>
          </a:prstGeom>
          <a:ln w="50800">
            <a:solidFill>
              <a:srgbClr val="4472C4"/>
            </a:solidFill>
          </a:ln>
        </p:spPr>
        <p:txBody>
          <a:bodyPr lIns="91437" tIns="91437" rIns="91437" bIns="91437"/>
          <a:lstStyle/>
          <a:p>
            <a:pPr algn="l" defTabSz="1828800">
              <a:defRPr b="0" sz="36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27" name="圆形"/>
          <p:cNvSpPr/>
          <p:nvPr/>
        </p:nvSpPr>
        <p:spPr>
          <a:xfrm>
            <a:off x="8421588" y="5251250"/>
            <a:ext cx="148109" cy="148109"/>
          </a:xfrm>
          <a:prstGeom prst="ellipse">
            <a:avLst/>
          </a:prstGeom>
          <a:solidFill>
            <a:srgbClr val="3366CC"/>
          </a:solidFill>
          <a:ln w="12700">
            <a:miter lim="400000"/>
          </a:ln>
        </p:spPr>
        <p:txBody>
          <a:bodyPr lIns="91436" tIns="91436" rIns="91436" bIns="91436" anchor="ctr"/>
          <a:lstStyle/>
          <a:p>
            <a:pPr algn="l" defTabSz="1828800">
              <a:defRPr b="0" sz="36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  <p:sp>
        <p:nvSpPr>
          <p:cNvPr id="228" name="圆形"/>
          <p:cNvSpPr/>
          <p:nvPr/>
        </p:nvSpPr>
        <p:spPr>
          <a:xfrm>
            <a:off x="8421588" y="9314301"/>
            <a:ext cx="148109" cy="148109"/>
          </a:xfrm>
          <a:prstGeom prst="ellipse">
            <a:avLst/>
          </a:prstGeom>
          <a:solidFill>
            <a:srgbClr val="3366CC"/>
          </a:solidFill>
          <a:ln w="12700">
            <a:miter lim="400000"/>
          </a:ln>
        </p:spPr>
        <p:txBody>
          <a:bodyPr lIns="91436" tIns="91436" rIns="91436" bIns="91436" anchor="ctr"/>
          <a:lstStyle/>
          <a:p>
            <a:pPr algn="l" defTabSz="1828800">
              <a:defRPr b="0" sz="3600">
                <a:latin typeface="微软雅黑"/>
                <a:ea typeface="微软雅黑"/>
                <a:cs typeface="微软雅黑"/>
                <a:sym typeface="微软雅黑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itle 2"/>
          <p:cNvSpPr txBox="1"/>
          <p:nvPr>
            <p:ph type="title"/>
          </p:nvPr>
        </p:nvSpPr>
        <p:spPr>
          <a:xfrm>
            <a:off x="1339847" y="1"/>
            <a:ext cx="21701128" cy="2057400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831A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▌</a:t>
            </a:r>
            <a:r>
              <a:rPr>
                <a:solidFill>
                  <a:srgbClr val="000000"/>
                </a:solidFill>
              </a:rPr>
              <a:t>功能介绍—1、信息查询</a:t>
            </a:r>
          </a:p>
        </p:txBody>
      </p:sp>
      <p:sp>
        <p:nvSpPr>
          <p:cNvPr id="231" name="Slide Number Placeholder 34"/>
          <p:cNvSpPr txBox="1"/>
          <p:nvPr>
            <p:ph type="sldNum" sz="quarter" idx="2"/>
          </p:nvPr>
        </p:nvSpPr>
        <p:spPr>
          <a:xfrm>
            <a:off x="22704132" y="12453971"/>
            <a:ext cx="336843" cy="4666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32" name="TextBox 6"/>
          <p:cNvSpPr txBox="1"/>
          <p:nvPr/>
        </p:nvSpPr>
        <p:spPr>
          <a:xfrm>
            <a:off x="1553534" y="2095130"/>
            <a:ext cx="21701127" cy="855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1828800">
              <a:lnSpc>
                <a:spcPct val="150000"/>
              </a:lnSpc>
              <a:defRPr sz="3800">
                <a:solidFill>
                  <a:srgbClr val="0831A2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资金以及历史成交情况查询</a:t>
            </a:r>
          </a:p>
        </p:txBody>
      </p:sp>
      <p:sp>
        <p:nvSpPr>
          <p:cNvPr id="233" name="Half Frame 8"/>
          <p:cNvSpPr/>
          <p:nvPr/>
        </p:nvSpPr>
        <p:spPr>
          <a:xfrm flipH="1" rot="13441425">
            <a:off x="9043190" y="2359578"/>
            <a:ext cx="329838" cy="3272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4400" y="7200"/>
                </a:lnTo>
                <a:lnTo>
                  <a:pt x="7144" y="7200"/>
                </a:lnTo>
                <a:lnTo>
                  <a:pt x="7144" y="14456"/>
                </a:lnTo>
                <a:lnTo>
                  <a:pt x="0" y="21600"/>
                </a:lnTo>
                <a:close/>
              </a:path>
            </a:pathLst>
          </a:custGeom>
          <a:solidFill>
            <a:srgbClr val="0831A2"/>
          </a:solidFill>
          <a:ln w="25400">
            <a:solidFill>
              <a:srgbClr val="040367"/>
            </a:solidFill>
            <a:miter/>
          </a:ln>
        </p:spPr>
        <p:txBody>
          <a:bodyPr tIns="91439" bIns="91439" anchor="ctr"/>
          <a:lstStyle/>
          <a:p>
            <a:pPr defTabSz="1828800">
              <a:defRPr b="0" sz="36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234" name="图片 1" descr="图片 1"/>
          <p:cNvPicPr>
            <a:picLocks noChangeAspect="1"/>
          </p:cNvPicPr>
          <p:nvPr/>
        </p:nvPicPr>
        <p:blipFill>
          <a:blip r:embed="rId2">
            <a:extLst/>
          </a:blip>
          <a:srcRect l="0" t="0" r="0" b="29900"/>
          <a:stretch>
            <a:fillRect/>
          </a:stretch>
        </p:blipFill>
        <p:spPr>
          <a:xfrm>
            <a:off x="1685904" y="3565235"/>
            <a:ext cx="3895543" cy="7889289"/>
          </a:xfrm>
          <a:prstGeom prst="rect">
            <a:avLst/>
          </a:prstGeom>
          <a:ln w="25400">
            <a:miter lim="400000"/>
          </a:ln>
          <a:effectLst>
            <a:outerShdw sx="100000" sy="100000" kx="0" ky="0" algn="b" rotWithShape="0" blurRad="254000" dist="127000" dir="5400000">
              <a:srgbClr val="000000">
                <a:alpha val="9787"/>
              </a:srgbClr>
            </a:outerShdw>
          </a:effectLst>
        </p:spPr>
      </p:pic>
      <p:sp>
        <p:nvSpPr>
          <p:cNvPr id="235" name="人脸对比"/>
          <p:cNvSpPr txBox="1"/>
          <p:nvPr/>
        </p:nvSpPr>
        <p:spPr>
          <a:xfrm>
            <a:off x="2556979" y="11585387"/>
            <a:ext cx="1821173" cy="754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6" tIns="91436" rIns="91436" bIns="91436">
            <a:spAutoFit/>
          </a:bodyPr>
          <a:lstStyle>
            <a:lvl1pPr algn="l" defTabSz="1828800">
              <a:defRPr sz="32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资金状况</a:t>
            </a:r>
          </a:p>
        </p:txBody>
      </p:sp>
      <p:sp>
        <p:nvSpPr>
          <p:cNvPr id="236" name="Half Frame 8"/>
          <p:cNvSpPr/>
          <p:nvPr/>
        </p:nvSpPr>
        <p:spPr>
          <a:xfrm flipH="1" rot="2490330">
            <a:off x="15483006" y="2358860"/>
            <a:ext cx="329838" cy="3272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4400" y="7200"/>
                </a:lnTo>
                <a:lnTo>
                  <a:pt x="7144" y="7200"/>
                </a:lnTo>
                <a:lnTo>
                  <a:pt x="7144" y="14456"/>
                </a:lnTo>
                <a:lnTo>
                  <a:pt x="0" y="21600"/>
                </a:lnTo>
                <a:close/>
              </a:path>
            </a:pathLst>
          </a:custGeom>
          <a:solidFill>
            <a:srgbClr val="0831A2"/>
          </a:solidFill>
          <a:ln w="25400">
            <a:solidFill>
              <a:srgbClr val="040367"/>
            </a:solidFill>
            <a:miter/>
          </a:ln>
        </p:spPr>
        <p:txBody>
          <a:bodyPr tIns="91439" bIns="91439" anchor="ctr"/>
          <a:lstStyle/>
          <a:p>
            <a:pPr defTabSz="1828800">
              <a:defRPr b="0" sz="36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37" name="人脸对比"/>
          <p:cNvSpPr txBox="1"/>
          <p:nvPr/>
        </p:nvSpPr>
        <p:spPr>
          <a:xfrm>
            <a:off x="1283146" y="12262097"/>
            <a:ext cx="4373873" cy="1021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6" tIns="91436" rIns="91436" bIns="91436">
            <a:spAutoFit/>
          </a:bodyPr>
          <a:lstStyle/>
          <a:p>
            <a:pPr defTabSz="266700">
              <a:defRPr b="0" sz="235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新宋体"/>
                <a:ea typeface="新宋体"/>
                <a:cs typeface="新宋体"/>
                <a:sym typeface="新宋体"/>
              </a:rPr>
              <a:t>自定义区间内，投资者资金状况</a:t>
            </a:r>
            <a:endParaRPr>
              <a:latin typeface="新宋体"/>
              <a:ea typeface="新宋体"/>
              <a:cs typeface="新宋体"/>
              <a:sym typeface="新宋体"/>
            </a:endParaRPr>
          </a:p>
          <a:p>
            <a:pPr defTabSz="266700">
              <a:defRPr b="0" sz="235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新宋体"/>
                <a:ea typeface="新宋体"/>
                <a:cs typeface="新宋体"/>
                <a:sym typeface="新宋体"/>
              </a:rPr>
              <a:t>（类似结算单的第一部分）</a:t>
            </a:r>
          </a:p>
        </p:txBody>
      </p:sp>
      <p:pic>
        <p:nvPicPr>
          <p:cNvPr id="238" name="E:\产品工作\投资者自助服务\png\07-02出入金明细-展开摘要.png" descr="E:\产品工作\投资者自助服务\png\07-02出入金明细-展开摘要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63932" y="3512759"/>
            <a:ext cx="8057888" cy="7994432"/>
          </a:xfrm>
          <a:prstGeom prst="rect">
            <a:avLst/>
          </a:prstGeom>
          <a:ln w="25400">
            <a:miter lim="400000"/>
          </a:ln>
          <a:effectLst>
            <a:outerShdw sx="100000" sy="100000" kx="0" ky="0" algn="b" rotWithShape="0" blurRad="254000" dist="127000" dir="5400000">
              <a:srgbClr val="000000">
                <a:alpha val="9787"/>
              </a:srgbClr>
            </a:outerShdw>
          </a:effectLst>
        </p:spPr>
      </p:pic>
      <p:sp>
        <p:nvSpPr>
          <p:cNvPr id="239" name="人脸对比"/>
          <p:cNvSpPr txBox="1"/>
          <p:nvPr/>
        </p:nvSpPr>
        <p:spPr>
          <a:xfrm>
            <a:off x="8239828" y="11641158"/>
            <a:ext cx="1414773" cy="754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6" tIns="91436" rIns="91436" bIns="91436">
            <a:spAutoFit/>
          </a:bodyPr>
          <a:lstStyle>
            <a:lvl1pPr algn="l" defTabSz="1828800">
              <a:defRPr sz="32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出入金</a:t>
            </a:r>
          </a:p>
        </p:txBody>
      </p:sp>
      <p:sp>
        <p:nvSpPr>
          <p:cNvPr id="240" name="人脸对比"/>
          <p:cNvSpPr txBox="1"/>
          <p:nvPr/>
        </p:nvSpPr>
        <p:spPr>
          <a:xfrm>
            <a:off x="7264444" y="12317868"/>
            <a:ext cx="3776973" cy="601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6" tIns="91436" rIns="91436" bIns="91436">
            <a:spAutoFit/>
          </a:bodyPr>
          <a:lstStyle>
            <a:lvl1pPr defTabSz="266700">
              <a:defRPr b="0" sz="2350">
                <a:uFill>
                  <a:solidFill>
                    <a:srgbClr val="000000"/>
                  </a:solidFill>
                </a:uFill>
                <a:latin typeface="新宋体"/>
                <a:ea typeface="新宋体"/>
                <a:cs typeface="新宋体"/>
                <a:sym typeface="新宋体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新宋体"/>
                <a:ea typeface="新宋体"/>
                <a:cs typeface="新宋体"/>
                <a:sym typeface="新宋体"/>
              </a:rPr>
              <a:t>自定义区间内，出入金流水</a:t>
            </a:r>
          </a:p>
        </p:txBody>
      </p:sp>
      <p:pic>
        <p:nvPicPr>
          <p:cNvPr id="241" name="01历史委托" descr="01历史委托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204123" y="3556913"/>
            <a:ext cx="8772363" cy="7906124"/>
          </a:xfrm>
          <a:prstGeom prst="rect">
            <a:avLst/>
          </a:prstGeom>
          <a:ln w="25400">
            <a:miter lim="400000"/>
          </a:ln>
          <a:effectLst>
            <a:outerShdw sx="100000" sy="100000" kx="0" ky="0" algn="b" rotWithShape="0" blurRad="254000" dist="127000" dir="5400000">
              <a:srgbClr val="000000">
                <a:alpha val="9787"/>
              </a:srgbClr>
            </a:outerShdw>
          </a:effectLst>
        </p:spPr>
      </p:pic>
      <p:sp>
        <p:nvSpPr>
          <p:cNvPr id="242" name="人脸对比"/>
          <p:cNvSpPr txBox="1"/>
          <p:nvPr/>
        </p:nvSpPr>
        <p:spPr>
          <a:xfrm>
            <a:off x="17199201" y="11641158"/>
            <a:ext cx="1821173" cy="754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6" tIns="91436" rIns="91436" bIns="91436">
            <a:spAutoFit/>
          </a:bodyPr>
          <a:lstStyle>
            <a:lvl1pPr algn="l" defTabSz="1828800">
              <a:defRPr sz="32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委托成交</a:t>
            </a:r>
          </a:p>
        </p:txBody>
      </p:sp>
      <p:sp>
        <p:nvSpPr>
          <p:cNvPr id="243" name="人脸对比"/>
          <p:cNvSpPr txBox="1"/>
          <p:nvPr/>
        </p:nvSpPr>
        <p:spPr>
          <a:xfrm>
            <a:off x="15773626" y="12317868"/>
            <a:ext cx="4672323" cy="601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6" tIns="91436" rIns="91436" bIns="91436">
            <a:spAutoFit/>
          </a:bodyPr>
          <a:lstStyle>
            <a:lvl1pPr defTabSz="266700">
              <a:defRPr b="0" sz="2350">
                <a:uFill>
                  <a:solidFill>
                    <a:srgbClr val="000000"/>
                  </a:solidFill>
                </a:uFill>
                <a:latin typeface="新宋体"/>
                <a:ea typeface="新宋体"/>
                <a:cs typeface="新宋体"/>
                <a:sym typeface="新宋体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新宋体"/>
                <a:ea typeface="新宋体"/>
                <a:cs typeface="新宋体"/>
                <a:sym typeface="新宋体"/>
              </a:rPr>
              <a:t>自定义区间内，委托成交明细列表</a:t>
            </a:r>
          </a:p>
        </p:txBody>
      </p:sp>
      <p:sp>
        <p:nvSpPr>
          <p:cNvPr id="244" name="矩形 57"/>
          <p:cNvSpPr/>
          <p:nvPr/>
        </p:nvSpPr>
        <p:spPr>
          <a:xfrm>
            <a:off x="1760838" y="4230184"/>
            <a:ext cx="3745857" cy="422222"/>
          </a:xfrm>
          <a:prstGeom prst="rect">
            <a:avLst/>
          </a:prstGeom>
          <a:ln w="44450">
            <a:solidFill>
              <a:schemeClr val="accent5">
                <a:hueOff val="-82419"/>
                <a:satOff val="-9513"/>
                <a:lumOff val="-16343"/>
              </a:schemeClr>
            </a:solidFill>
            <a:miter/>
          </a:ln>
        </p:spPr>
        <p:txBody>
          <a:bodyPr lIns="45719" rIns="45719" anchor="ctr"/>
          <a:lstStyle/>
          <a:p>
            <a:pPr>
              <a:defRPr b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45" name="文本框 162"/>
          <p:cNvSpPr txBox="1"/>
          <p:nvPr/>
        </p:nvSpPr>
        <p:spPr>
          <a:xfrm>
            <a:off x="2673075" y="4835520"/>
            <a:ext cx="1921383" cy="447041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defTabSz="457200">
              <a:def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自定义时段查询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Box 6"/>
          <p:cNvSpPr txBox="1"/>
          <p:nvPr/>
        </p:nvSpPr>
        <p:spPr>
          <a:xfrm>
            <a:off x="1629734" y="2234830"/>
            <a:ext cx="21701127" cy="855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1828800">
              <a:lnSpc>
                <a:spcPct val="150000"/>
              </a:lnSpc>
              <a:defRPr sz="3800">
                <a:solidFill>
                  <a:srgbClr val="0831A2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持仓汇总及明细，满足各种场景下了解历史交易情况</a:t>
            </a:r>
          </a:p>
        </p:txBody>
      </p:sp>
      <p:sp>
        <p:nvSpPr>
          <p:cNvPr id="248" name="Half Frame 8"/>
          <p:cNvSpPr/>
          <p:nvPr/>
        </p:nvSpPr>
        <p:spPr>
          <a:xfrm flipH="1" rot="13441425">
            <a:off x="6473771" y="2499278"/>
            <a:ext cx="329838" cy="3272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4400" y="7200"/>
                </a:lnTo>
                <a:lnTo>
                  <a:pt x="7144" y="7200"/>
                </a:lnTo>
                <a:lnTo>
                  <a:pt x="7144" y="14456"/>
                </a:lnTo>
                <a:lnTo>
                  <a:pt x="0" y="21600"/>
                </a:lnTo>
                <a:close/>
              </a:path>
            </a:pathLst>
          </a:custGeom>
          <a:solidFill>
            <a:srgbClr val="0831A2"/>
          </a:solidFill>
          <a:ln w="25400">
            <a:solidFill>
              <a:srgbClr val="040367"/>
            </a:solidFill>
            <a:miter/>
          </a:ln>
        </p:spPr>
        <p:txBody>
          <a:bodyPr tIns="91439" bIns="91439" anchor="ctr"/>
          <a:lstStyle/>
          <a:p>
            <a:pPr defTabSz="1828800">
              <a:defRPr b="0" sz="36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49" name="人脸对比"/>
          <p:cNvSpPr txBox="1"/>
          <p:nvPr/>
        </p:nvSpPr>
        <p:spPr>
          <a:xfrm>
            <a:off x="5612074" y="11215670"/>
            <a:ext cx="1821173" cy="754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6" tIns="91436" rIns="91436" bIns="91436">
            <a:spAutoFit/>
          </a:bodyPr>
          <a:lstStyle>
            <a:lvl1pPr algn="l" defTabSz="1828800">
              <a:defRPr sz="32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持仓汇总</a:t>
            </a:r>
          </a:p>
        </p:txBody>
      </p:sp>
      <p:sp>
        <p:nvSpPr>
          <p:cNvPr id="250" name="Half Frame 8"/>
          <p:cNvSpPr/>
          <p:nvPr/>
        </p:nvSpPr>
        <p:spPr>
          <a:xfrm flipH="1" rot="2490330">
            <a:off x="18101383" y="2498560"/>
            <a:ext cx="329838" cy="3272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4400" y="7200"/>
                </a:lnTo>
                <a:lnTo>
                  <a:pt x="7144" y="7200"/>
                </a:lnTo>
                <a:lnTo>
                  <a:pt x="7144" y="14456"/>
                </a:lnTo>
                <a:lnTo>
                  <a:pt x="0" y="21600"/>
                </a:lnTo>
                <a:close/>
              </a:path>
            </a:pathLst>
          </a:custGeom>
          <a:solidFill>
            <a:srgbClr val="0831A2"/>
          </a:solidFill>
          <a:ln w="25400">
            <a:solidFill>
              <a:srgbClr val="040367"/>
            </a:solidFill>
            <a:miter/>
          </a:ln>
        </p:spPr>
        <p:txBody>
          <a:bodyPr tIns="91439" bIns="91439" anchor="ctr"/>
          <a:lstStyle/>
          <a:p>
            <a:pPr defTabSz="1828800">
              <a:defRPr b="0" sz="36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51" name="人脸对比"/>
          <p:cNvSpPr txBox="1"/>
          <p:nvPr/>
        </p:nvSpPr>
        <p:spPr>
          <a:xfrm>
            <a:off x="3741340" y="11892380"/>
            <a:ext cx="5567673" cy="1021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6" tIns="91436" rIns="91436" bIns="91436">
            <a:spAutoFit/>
          </a:bodyPr>
          <a:lstStyle/>
          <a:p>
            <a:pPr defTabSz="266700">
              <a:defRPr b="0" sz="235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新宋体"/>
                <a:ea typeface="新宋体"/>
                <a:cs typeface="新宋体"/>
                <a:sym typeface="新宋体"/>
              </a:rPr>
              <a:t>截止到自定义日期，投资者持仓情况列表</a:t>
            </a:r>
            <a:endParaRPr>
              <a:latin typeface="新宋体"/>
              <a:ea typeface="新宋体"/>
              <a:cs typeface="新宋体"/>
              <a:sym typeface="新宋体"/>
            </a:endParaRPr>
          </a:p>
          <a:p>
            <a:pPr defTabSz="266700">
              <a:defRPr b="0" sz="235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新宋体"/>
                <a:ea typeface="新宋体"/>
                <a:cs typeface="新宋体"/>
                <a:sym typeface="新宋体"/>
              </a:rPr>
              <a:t>（交易信息详细展示）</a:t>
            </a:r>
          </a:p>
        </p:txBody>
      </p:sp>
      <p:sp>
        <p:nvSpPr>
          <p:cNvPr id="252" name="人脸对比"/>
          <p:cNvSpPr txBox="1"/>
          <p:nvPr/>
        </p:nvSpPr>
        <p:spPr>
          <a:xfrm>
            <a:off x="17509517" y="11215670"/>
            <a:ext cx="1821173" cy="754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6" tIns="91436" rIns="91436" bIns="91436">
            <a:spAutoFit/>
          </a:bodyPr>
          <a:lstStyle>
            <a:lvl1pPr algn="l" defTabSz="1828800">
              <a:defRPr sz="32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持仓明细</a:t>
            </a:r>
          </a:p>
        </p:txBody>
      </p:sp>
      <p:sp>
        <p:nvSpPr>
          <p:cNvPr id="253" name="人脸对比"/>
          <p:cNvSpPr txBox="1"/>
          <p:nvPr/>
        </p:nvSpPr>
        <p:spPr>
          <a:xfrm>
            <a:off x="14890142" y="11892380"/>
            <a:ext cx="7059923" cy="970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6" tIns="91436" rIns="91436" bIns="91436">
            <a:spAutoFit/>
          </a:bodyPr>
          <a:lstStyle/>
          <a:p>
            <a:pPr defTabSz="266700">
              <a:defRPr b="0" sz="2350"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pPr>
            <a:r>
              <a:rPr b="1">
                <a:solidFill>
                  <a:srgbClr val="3266CC"/>
                </a:solidFill>
                <a:latin typeface="新宋体"/>
                <a:ea typeface="新宋体"/>
                <a:cs typeface="新宋体"/>
                <a:sym typeface="新宋体"/>
              </a:rPr>
              <a:t>点击持仓汇总某条记录</a:t>
            </a:r>
            <a:r>
              <a:rPr>
                <a:latin typeface="新宋体"/>
                <a:ea typeface="新宋体"/>
                <a:cs typeface="新宋体"/>
                <a:sym typeface="新宋体"/>
              </a:rPr>
              <a:t>，跳转到该合约的交易明细。</a:t>
            </a:r>
            <a:endParaRPr>
              <a:latin typeface="新宋体"/>
              <a:ea typeface="新宋体"/>
              <a:cs typeface="新宋体"/>
              <a:sym typeface="新宋体"/>
            </a:endParaRPr>
          </a:p>
        </p:txBody>
      </p:sp>
      <p:pic>
        <p:nvPicPr>
          <p:cNvPr id="254" name="E:\产品工作\投资者自助服务\png\03-00持仓合约.png" descr="E:\产品工作\投资者自助服务\png\03-00持仓合约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7652" y="3576653"/>
            <a:ext cx="12308807" cy="7394474"/>
          </a:xfrm>
          <a:prstGeom prst="rect">
            <a:avLst/>
          </a:prstGeom>
          <a:ln w="25400">
            <a:miter lim="400000"/>
          </a:ln>
          <a:effectLst>
            <a:outerShdw sx="100000" sy="100000" kx="0" ky="0" algn="b" rotWithShape="0" blurRad="254000" dist="127000" dir="5400000">
              <a:srgbClr val="000000">
                <a:alpha val="9787"/>
              </a:srgbClr>
            </a:outerShdw>
          </a:effectLst>
        </p:spPr>
      </p:pic>
      <p:pic>
        <p:nvPicPr>
          <p:cNvPr id="255" name="E:\产品工作\投资者自助服务\png\03-01持仓合约-操作明细.png" descr="E:\产品工作\投资者自助服务\png\03-01持仓合约-操作明细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590985" y="3580693"/>
            <a:ext cx="9658237" cy="7386394"/>
          </a:xfrm>
          <a:prstGeom prst="rect">
            <a:avLst/>
          </a:prstGeom>
          <a:ln w="25400">
            <a:miter lim="400000"/>
          </a:ln>
          <a:effectLst>
            <a:outerShdw sx="100000" sy="100000" kx="0" ky="0" algn="b" rotWithShape="0" blurRad="254000" dist="127000" dir="5400000">
              <a:srgbClr val="000000">
                <a:alpha val="9787"/>
              </a:srgbClr>
            </a:outerShdw>
          </a:effectLst>
        </p:spPr>
      </p:pic>
      <p:sp>
        <p:nvSpPr>
          <p:cNvPr id="256" name="Title 2"/>
          <p:cNvSpPr txBox="1"/>
          <p:nvPr>
            <p:ph type="title"/>
          </p:nvPr>
        </p:nvSpPr>
        <p:spPr>
          <a:xfrm>
            <a:off x="1339847" y="1"/>
            <a:ext cx="21701128" cy="2057400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831A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▌</a:t>
            </a:r>
            <a:r>
              <a:rPr>
                <a:solidFill>
                  <a:srgbClr val="000000"/>
                </a:solidFill>
              </a:rPr>
              <a:t>功能介绍—1、信息查询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Box 6"/>
          <p:cNvSpPr txBox="1"/>
          <p:nvPr/>
        </p:nvSpPr>
        <p:spPr>
          <a:xfrm>
            <a:off x="1629734" y="2234830"/>
            <a:ext cx="21701127" cy="855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1828800">
              <a:lnSpc>
                <a:spcPct val="150000"/>
              </a:lnSpc>
              <a:defRPr sz="3800">
                <a:solidFill>
                  <a:srgbClr val="0831A2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交割明细、行权明细、质押明细、资金流水各类明细详尽查询</a:t>
            </a:r>
          </a:p>
        </p:txBody>
      </p:sp>
      <p:sp>
        <p:nvSpPr>
          <p:cNvPr id="259" name="Half Frame 8"/>
          <p:cNvSpPr/>
          <p:nvPr/>
        </p:nvSpPr>
        <p:spPr>
          <a:xfrm flipH="1" rot="13441425">
            <a:off x="5310366" y="2499278"/>
            <a:ext cx="329838" cy="3272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4400" y="7200"/>
                </a:lnTo>
                <a:lnTo>
                  <a:pt x="7144" y="7200"/>
                </a:lnTo>
                <a:lnTo>
                  <a:pt x="7144" y="14456"/>
                </a:lnTo>
                <a:lnTo>
                  <a:pt x="0" y="21600"/>
                </a:lnTo>
                <a:close/>
              </a:path>
            </a:pathLst>
          </a:custGeom>
          <a:solidFill>
            <a:srgbClr val="0831A2"/>
          </a:solidFill>
          <a:ln w="25400">
            <a:solidFill>
              <a:srgbClr val="040367"/>
            </a:solidFill>
            <a:miter/>
          </a:ln>
        </p:spPr>
        <p:txBody>
          <a:bodyPr tIns="91439" bIns="91439" anchor="ctr"/>
          <a:lstStyle/>
          <a:p>
            <a:pPr defTabSz="1828800">
              <a:defRPr b="0" sz="36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60" name="Half Frame 8"/>
          <p:cNvSpPr/>
          <p:nvPr/>
        </p:nvSpPr>
        <p:spPr>
          <a:xfrm flipH="1" rot="2490330">
            <a:off x="19122330" y="2498560"/>
            <a:ext cx="329838" cy="3272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14400" y="7200"/>
                </a:lnTo>
                <a:lnTo>
                  <a:pt x="7144" y="7200"/>
                </a:lnTo>
                <a:lnTo>
                  <a:pt x="7144" y="14456"/>
                </a:lnTo>
                <a:lnTo>
                  <a:pt x="0" y="21600"/>
                </a:lnTo>
                <a:close/>
              </a:path>
            </a:pathLst>
          </a:custGeom>
          <a:solidFill>
            <a:srgbClr val="0831A2"/>
          </a:solidFill>
          <a:ln w="25400">
            <a:solidFill>
              <a:srgbClr val="040367"/>
            </a:solidFill>
            <a:miter/>
          </a:ln>
        </p:spPr>
        <p:txBody>
          <a:bodyPr tIns="91439" bIns="91439" anchor="ctr"/>
          <a:lstStyle/>
          <a:p>
            <a:pPr defTabSz="1828800">
              <a:defRPr b="0" sz="36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261" name="E:\产品工作\投资者自助服务\png\08交割明细.png" descr="E:\产品工作\投资者自助服务\png\08交割明细.png"/>
          <p:cNvPicPr>
            <a:picLocks noChangeAspect="1"/>
          </p:cNvPicPr>
          <p:nvPr/>
        </p:nvPicPr>
        <p:blipFill>
          <a:blip r:embed="rId2">
            <a:extLst/>
          </a:blip>
          <a:srcRect l="0" t="0" r="0" b="48425"/>
          <a:stretch>
            <a:fillRect/>
          </a:stretch>
        </p:blipFill>
        <p:spPr>
          <a:xfrm>
            <a:off x="1822264" y="3920921"/>
            <a:ext cx="11719810" cy="3791713"/>
          </a:xfrm>
          <a:prstGeom prst="rect">
            <a:avLst/>
          </a:prstGeom>
          <a:ln w="25400">
            <a:miter lim="400000"/>
          </a:ln>
          <a:effectLst>
            <a:outerShdw sx="100000" sy="100000" kx="0" ky="0" algn="b" rotWithShape="0" blurRad="254000" dist="127000" dir="5400000">
              <a:srgbClr val="000000">
                <a:alpha val="9787"/>
              </a:srgbClr>
            </a:outerShdw>
          </a:effectLst>
        </p:spPr>
      </p:pic>
      <p:pic>
        <p:nvPicPr>
          <p:cNvPr id="262" name="E:\产品工作\投资者自助服务\png\09行权明细.png" descr="E:\产品工作\投资者自助服务\png\09行权明细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52536"/>
          <a:stretch>
            <a:fillRect/>
          </a:stretch>
        </p:blipFill>
        <p:spPr>
          <a:xfrm>
            <a:off x="1886038" y="8893090"/>
            <a:ext cx="11592007" cy="3451425"/>
          </a:xfrm>
          <a:prstGeom prst="rect">
            <a:avLst/>
          </a:prstGeom>
          <a:ln w="25400">
            <a:miter lim="400000"/>
          </a:ln>
          <a:effectLst>
            <a:outerShdw sx="100000" sy="100000" kx="0" ky="0" algn="b" rotWithShape="0" blurRad="254000" dist="127000" dir="5400000">
              <a:srgbClr val="000000">
                <a:alpha val="9787"/>
              </a:srgbClr>
            </a:outerShdw>
          </a:effectLst>
        </p:spPr>
      </p:pic>
      <p:pic>
        <p:nvPicPr>
          <p:cNvPr id="263" name="E:\产品工作\投资者自助服务\png\10质押明细.png" descr="E:\产品工作\投资者自助服务\png\10质押明细.png"/>
          <p:cNvPicPr>
            <a:picLocks noChangeAspect="1"/>
          </p:cNvPicPr>
          <p:nvPr/>
        </p:nvPicPr>
        <p:blipFill>
          <a:blip r:embed="rId4">
            <a:extLst/>
          </a:blip>
          <a:srcRect l="0" t="0" r="0" b="64128"/>
          <a:stretch>
            <a:fillRect/>
          </a:stretch>
        </p:blipFill>
        <p:spPr>
          <a:xfrm>
            <a:off x="13787606" y="3895720"/>
            <a:ext cx="7168368" cy="3735569"/>
          </a:xfrm>
          <a:prstGeom prst="rect">
            <a:avLst/>
          </a:prstGeom>
          <a:ln w="25400">
            <a:miter lim="400000"/>
          </a:ln>
          <a:effectLst>
            <a:outerShdw sx="100000" sy="100000" kx="0" ky="0" algn="b" rotWithShape="0" blurRad="254000" dist="127000" dir="5400000">
              <a:srgbClr val="000000">
                <a:alpha val="9787"/>
              </a:srgbClr>
            </a:outerShdw>
          </a:effectLst>
        </p:spPr>
      </p:pic>
      <p:sp>
        <p:nvSpPr>
          <p:cNvPr id="264" name="人脸对比"/>
          <p:cNvSpPr txBox="1"/>
          <p:nvPr/>
        </p:nvSpPr>
        <p:spPr>
          <a:xfrm>
            <a:off x="6586616" y="7827678"/>
            <a:ext cx="1465573" cy="640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6" tIns="91436" rIns="91436" bIns="91436">
            <a:spAutoFit/>
          </a:bodyPr>
          <a:lstStyle>
            <a:lvl1pPr algn="l" defTabSz="1828800">
              <a:defRPr sz="25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交割明细</a:t>
            </a:r>
          </a:p>
        </p:txBody>
      </p:sp>
      <p:sp>
        <p:nvSpPr>
          <p:cNvPr id="265" name="人脸对比"/>
          <p:cNvSpPr txBox="1"/>
          <p:nvPr/>
        </p:nvSpPr>
        <p:spPr>
          <a:xfrm>
            <a:off x="6586616" y="12599965"/>
            <a:ext cx="1465573" cy="640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6" tIns="91436" rIns="91436" bIns="91436">
            <a:spAutoFit/>
          </a:bodyPr>
          <a:lstStyle>
            <a:lvl1pPr algn="l" defTabSz="1828800">
              <a:defRPr sz="25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行权明细</a:t>
            </a:r>
          </a:p>
        </p:txBody>
      </p:sp>
      <p:sp>
        <p:nvSpPr>
          <p:cNvPr id="266" name="人脸对比"/>
          <p:cNvSpPr txBox="1"/>
          <p:nvPr/>
        </p:nvSpPr>
        <p:spPr>
          <a:xfrm>
            <a:off x="16375727" y="12599965"/>
            <a:ext cx="1465573" cy="640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6" tIns="91436" rIns="91436" bIns="91436">
            <a:spAutoFit/>
          </a:bodyPr>
          <a:lstStyle>
            <a:lvl1pPr algn="l" defTabSz="1828800">
              <a:defRPr sz="25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资金流水</a:t>
            </a:r>
          </a:p>
        </p:txBody>
      </p:sp>
      <p:pic>
        <p:nvPicPr>
          <p:cNvPr id="267" name="C:\Users\Administrator\Desktop\新建文件夹 (19)\新建文件夹\png\05资金流水.png" descr="C:\Users\Administrator\Desktop\新建文件夹 (19)\新建文件夹\png\05资金流水.png"/>
          <p:cNvPicPr>
            <a:picLocks noChangeAspect="1"/>
          </p:cNvPicPr>
          <p:nvPr/>
        </p:nvPicPr>
        <p:blipFill>
          <a:blip r:embed="rId5">
            <a:extLst/>
          </a:blip>
          <a:srcRect l="0" t="0" r="0" b="52925"/>
          <a:stretch>
            <a:fillRect/>
          </a:stretch>
        </p:blipFill>
        <p:spPr>
          <a:xfrm>
            <a:off x="13858836" y="8902615"/>
            <a:ext cx="7008413" cy="3425423"/>
          </a:xfrm>
          <a:prstGeom prst="rect">
            <a:avLst/>
          </a:prstGeom>
          <a:ln w="25400">
            <a:miter lim="400000"/>
          </a:ln>
          <a:effectLst>
            <a:outerShdw sx="100000" sy="100000" kx="0" ky="0" algn="b" rotWithShape="0" blurRad="254000" dist="127000" dir="5400000">
              <a:srgbClr val="000000">
                <a:alpha val="9787"/>
              </a:srgbClr>
            </a:outerShdw>
          </a:effectLst>
        </p:spPr>
      </p:pic>
      <p:sp>
        <p:nvSpPr>
          <p:cNvPr id="268" name="人脸对比"/>
          <p:cNvSpPr txBox="1"/>
          <p:nvPr/>
        </p:nvSpPr>
        <p:spPr>
          <a:xfrm>
            <a:off x="16502727" y="7827678"/>
            <a:ext cx="1465573" cy="640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6" tIns="91436" rIns="91436" bIns="91436">
            <a:spAutoFit/>
          </a:bodyPr>
          <a:lstStyle>
            <a:lvl1pPr algn="l" defTabSz="1828800">
              <a:defRPr sz="25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质押明细</a:t>
            </a:r>
          </a:p>
        </p:txBody>
      </p:sp>
      <p:sp>
        <p:nvSpPr>
          <p:cNvPr id="269" name="矩形 57"/>
          <p:cNvSpPr/>
          <p:nvPr/>
        </p:nvSpPr>
        <p:spPr>
          <a:xfrm>
            <a:off x="1766248" y="10107694"/>
            <a:ext cx="11675270" cy="422222"/>
          </a:xfrm>
          <a:prstGeom prst="rect">
            <a:avLst/>
          </a:prstGeom>
          <a:ln w="44450">
            <a:solidFill>
              <a:schemeClr val="accent5">
                <a:hueOff val="-82419"/>
                <a:satOff val="-9513"/>
                <a:lumOff val="-16343"/>
              </a:schemeClr>
            </a:solidFill>
            <a:miter/>
          </a:ln>
        </p:spPr>
        <p:txBody>
          <a:bodyPr lIns="45719" rIns="45719" anchor="ctr"/>
          <a:lstStyle/>
          <a:p>
            <a:pPr>
              <a:defRPr b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70" name="矩形 57"/>
          <p:cNvSpPr/>
          <p:nvPr/>
        </p:nvSpPr>
        <p:spPr>
          <a:xfrm>
            <a:off x="2106934" y="4713328"/>
            <a:ext cx="3745858" cy="422222"/>
          </a:xfrm>
          <a:prstGeom prst="rect">
            <a:avLst/>
          </a:prstGeom>
          <a:ln w="44450">
            <a:solidFill>
              <a:schemeClr val="accent5">
                <a:hueOff val="-82419"/>
                <a:satOff val="-9513"/>
                <a:lumOff val="-16343"/>
              </a:schemeClr>
            </a:solidFill>
            <a:miter/>
          </a:ln>
        </p:spPr>
        <p:txBody>
          <a:bodyPr lIns="45719" rIns="45719" anchor="ctr"/>
          <a:lstStyle/>
          <a:p>
            <a:pPr>
              <a:defRPr b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71" name="文本框 162"/>
          <p:cNvSpPr txBox="1"/>
          <p:nvPr/>
        </p:nvSpPr>
        <p:spPr>
          <a:xfrm>
            <a:off x="6187030" y="4700919"/>
            <a:ext cx="1921383" cy="447041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defTabSz="457200">
              <a:def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自定义时段查询</a:t>
            </a:r>
          </a:p>
        </p:txBody>
      </p:sp>
      <p:sp>
        <p:nvSpPr>
          <p:cNvPr id="272" name="文本框 162"/>
          <p:cNvSpPr txBox="1"/>
          <p:nvPr/>
        </p:nvSpPr>
        <p:spPr>
          <a:xfrm>
            <a:off x="8112809" y="9576187"/>
            <a:ext cx="1262265" cy="447041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defTabSz="457200">
              <a:def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字段详尽</a:t>
            </a:r>
          </a:p>
        </p:txBody>
      </p:sp>
      <p:sp>
        <p:nvSpPr>
          <p:cNvPr id="273" name="Title 2"/>
          <p:cNvSpPr txBox="1"/>
          <p:nvPr>
            <p:ph type="title"/>
          </p:nvPr>
        </p:nvSpPr>
        <p:spPr>
          <a:xfrm>
            <a:off x="1339847" y="1"/>
            <a:ext cx="21701128" cy="2057400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831A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▌</a:t>
            </a:r>
            <a:r>
              <a:rPr>
                <a:solidFill>
                  <a:srgbClr val="000000"/>
                </a:solidFill>
              </a:rPr>
              <a:t>功能介绍—1、信息查询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组合 9"/>
          <p:cNvGrpSpPr/>
          <p:nvPr/>
        </p:nvGrpSpPr>
        <p:grpSpPr>
          <a:xfrm>
            <a:off x="13554459" y="2742986"/>
            <a:ext cx="9682372" cy="8651549"/>
            <a:chOff x="0" y="-6350"/>
            <a:chExt cx="9682371" cy="8651547"/>
          </a:xfrm>
        </p:grpSpPr>
        <p:grpSp>
          <p:nvGrpSpPr>
            <p:cNvPr id="281" name="组合 29"/>
            <p:cNvGrpSpPr/>
            <p:nvPr/>
          </p:nvGrpSpPr>
          <p:grpSpPr>
            <a:xfrm>
              <a:off x="0" y="3002153"/>
              <a:ext cx="8968323" cy="5643045"/>
              <a:chOff x="0" y="0"/>
              <a:chExt cx="8968322" cy="5643043"/>
            </a:xfrm>
          </p:grpSpPr>
          <p:grpSp>
            <p:nvGrpSpPr>
              <p:cNvPr id="277" name="组合 3"/>
              <p:cNvGrpSpPr/>
              <p:nvPr/>
            </p:nvGrpSpPr>
            <p:grpSpPr>
              <a:xfrm>
                <a:off x="231861" y="0"/>
                <a:ext cx="1133395" cy="923330"/>
                <a:chOff x="0" y="0"/>
                <a:chExt cx="1133393" cy="923329"/>
              </a:xfrm>
            </p:grpSpPr>
            <p:sp>
              <p:nvSpPr>
                <p:cNvPr id="275" name="矩形 4"/>
                <p:cNvSpPr/>
                <p:nvPr/>
              </p:nvSpPr>
              <p:spPr>
                <a:xfrm>
                  <a:off x="0" y="0"/>
                  <a:ext cx="1133394" cy="923330"/>
                </a:xfrm>
                <a:prstGeom prst="rect">
                  <a:avLst/>
                </a:prstGeom>
                <a:solidFill>
                  <a:srgbClr val="0831A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91439" tIns="91439" rIns="91439" bIns="91439" numCol="1" anchor="ctr">
                  <a:noAutofit/>
                </a:bodyPr>
                <a:lstStyle/>
                <a:p>
                  <a:pPr defTabSz="1827529">
                    <a:defRPr sz="4000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pPr>
                </a:p>
              </p:txBody>
            </p:sp>
            <p:pic>
              <p:nvPicPr>
                <p:cNvPr id="276" name="图像" descr="图像"/>
                <p:cNvPicPr>
                  <a:picLocks noChangeAspect="1"/>
                </p:cNvPicPr>
                <p:nvPr/>
              </p:nvPicPr>
              <p:blipFill>
                <a:blip r:embed="rId2">
                  <a:extLst/>
                </a:blip>
                <a:stretch>
                  <a:fillRect/>
                </a:stretch>
              </p:blipFill>
              <p:spPr>
                <a:xfrm>
                  <a:off x="238109" y="139616"/>
                  <a:ext cx="657176" cy="644098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  <p:grpSp>
            <p:nvGrpSpPr>
              <p:cNvPr id="280" name="组合 14"/>
              <p:cNvGrpSpPr/>
              <p:nvPr/>
            </p:nvGrpSpPr>
            <p:grpSpPr>
              <a:xfrm>
                <a:off x="0" y="1268515"/>
                <a:ext cx="8968323" cy="4374529"/>
                <a:chOff x="0" y="-6349"/>
                <a:chExt cx="8968322" cy="4374527"/>
              </a:xfrm>
            </p:grpSpPr>
            <p:sp>
              <p:nvSpPr>
                <p:cNvPr id="278" name="文本框 12"/>
                <p:cNvSpPr txBox="1"/>
                <p:nvPr/>
              </p:nvSpPr>
              <p:spPr>
                <a:xfrm>
                  <a:off x="7" y="-6350"/>
                  <a:ext cx="4683549" cy="75438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91439" tIns="91439" rIns="91439" bIns="91439" numCol="1" anchor="ctr">
                  <a:spAutoFit/>
                </a:bodyPr>
                <a:lstStyle>
                  <a:lvl1pPr algn="l" defTabSz="1827529">
                    <a:defRPr sz="3200">
                      <a:latin typeface="微软雅黑"/>
                      <a:ea typeface="微软雅黑"/>
                      <a:cs typeface="微软雅黑"/>
                      <a:sym typeface="微软雅黑"/>
                    </a:defRPr>
                  </a:lvl1pPr>
                </a:lstStyle>
                <a:p>
                  <a:pPr/>
                  <a:r>
                    <a:t>自由组合导出内容</a:t>
                  </a:r>
                </a:p>
              </p:txBody>
            </p:sp>
            <p:sp>
              <p:nvSpPr>
                <p:cNvPr id="279" name="矩形 13"/>
                <p:cNvSpPr txBox="1"/>
                <p:nvPr/>
              </p:nvSpPr>
              <p:spPr>
                <a:xfrm>
                  <a:off x="0" y="705498"/>
                  <a:ext cx="8968323" cy="366268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91439" tIns="91439" rIns="91439" bIns="91439" numCol="1" anchor="t">
                  <a:spAutoFit/>
                </a:bodyPr>
                <a:lstStyle>
                  <a:lvl1pPr algn="l" defTabSz="1828800">
                    <a:lnSpc>
                      <a:spcPct val="150000"/>
                    </a:lnSpc>
                    <a:defRPr b="0" sz="2800">
                      <a:solidFill>
                        <a:srgbClr val="333333"/>
                      </a:solidFill>
                      <a:latin typeface="新宋体"/>
                      <a:ea typeface="新宋体"/>
                      <a:cs typeface="新宋体"/>
                      <a:sym typeface="新宋体"/>
                    </a:defRPr>
                  </a:lvl1pPr>
                </a:lstStyle>
                <a:p>
                  <a:pPr>
                    <a:defRPr>
                      <a:latin typeface="HelveticaNeue"/>
                      <a:ea typeface="HelveticaNeue"/>
                      <a:cs typeface="HelveticaNeue"/>
                      <a:sym typeface="HelveticaNeue"/>
                    </a:defRPr>
                  </a:pPr>
                  <a:r>
                    <a:rPr>
                      <a:latin typeface="新宋体"/>
                      <a:ea typeface="新宋体"/>
                      <a:cs typeface="新宋体"/>
                      <a:sym typeface="新宋体"/>
                    </a:rPr>
                    <a:t>投资者可以自定义参数，从前言、资金状况、出入金明细、质押明细、交割明细、行权明细、持仓汇总、成交记录、平仓明细、持仓明细、尾页等内容中选择需要的内容导出，然后发送至邮箱。</a:t>
                  </a:r>
                  <a:endParaRPr>
                    <a:latin typeface="新宋体"/>
                    <a:ea typeface="新宋体"/>
                    <a:cs typeface="新宋体"/>
                    <a:sym typeface="新宋体"/>
                  </a:endParaRPr>
                </a:p>
              </p:txBody>
            </p:sp>
          </p:grpSp>
        </p:grpSp>
        <p:sp>
          <p:nvSpPr>
            <p:cNvPr id="282" name="任意多边形 8"/>
            <p:cNvSpPr/>
            <p:nvPr/>
          </p:nvSpPr>
          <p:spPr>
            <a:xfrm>
              <a:off x="5741996" y="3529209"/>
              <a:ext cx="356003" cy="3496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886" y="11389"/>
                  </a:moveTo>
                  <a:cubicBezTo>
                    <a:pt x="14526" y="11389"/>
                    <a:pt x="15043" y="11915"/>
                    <a:pt x="15043" y="12567"/>
                  </a:cubicBezTo>
                  <a:lnTo>
                    <a:pt x="15043" y="20422"/>
                  </a:lnTo>
                  <a:cubicBezTo>
                    <a:pt x="15043" y="21074"/>
                    <a:pt x="14526" y="21600"/>
                    <a:pt x="13886" y="21600"/>
                  </a:cubicBezTo>
                  <a:lnTo>
                    <a:pt x="7714" y="21600"/>
                  </a:lnTo>
                  <a:cubicBezTo>
                    <a:pt x="7074" y="21600"/>
                    <a:pt x="6557" y="21074"/>
                    <a:pt x="6557" y="20422"/>
                  </a:cubicBezTo>
                  <a:lnTo>
                    <a:pt x="6557" y="12567"/>
                  </a:lnTo>
                  <a:cubicBezTo>
                    <a:pt x="6557" y="11915"/>
                    <a:pt x="7074" y="11389"/>
                    <a:pt x="7714" y="11389"/>
                  </a:cubicBezTo>
                  <a:lnTo>
                    <a:pt x="13886" y="11389"/>
                  </a:lnTo>
                  <a:close/>
                  <a:moveTo>
                    <a:pt x="5786" y="4713"/>
                  </a:moveTo>
                  <a:cubicBezTo>
                    <a:pt x="5786" y="5553"/>
                    <a:pt x="6434" y="6240"/>
                    <a:pt x="7251" y="6284"/>
                  </a:cubicBezTo>
                  <a:lnTo>
                    <a:pt x="14271" y="6284"/>
                  </a:lnTo>
                  <a:cubicBezTo>
                    <a:pt x="15097" y="6284"/>
                    <a:pt x="15772" y="5624"/>
                    <a:pt x="15814" y="4791"/>
                  </a:cubicBezTo>
                  <a:lnTo>
                    <a:pt x="15814" y="4713"/>
                  </a:lnTo>
                  <a:lnTo>
                    <a:pt x="20443" y="4713"/>
                  </a:lnTo>
                  <a:cubicBezTo>
                    <a:pt x="21083" y="4713"/>
                    <a:pt x="21600" y="5239"/>
                    <a:pt x="21600" y="5891"/>
                  </a:cubicBezTo>
                  <a:lnTo>
                    <a:pt x="21600" y="15709"/>
                  </a:lnTo>
                  <a:cubicBezTo>
                    <a:pt x="21600" y="16361"/>
                    <a:pt x="21083" y="16887"/>
                    <a:pt x="20443" y="16887"/>
                  </a:cubicBezTo>
                  <a:lnTo>
                    <a:pt x="15814" y="16887"/>
                  </a:lnTo>
                  <a:lnTo>
                    <a:pt x="15814" y="12175"/>
                  </a:lnTo>
                  <a:cubicBezTo>
                    <a:pt x="15814" y="11334"/>
                    <a:pt x="15166" y="10647"/>
                    <a:pt x="14349" y="10604"/>
                  </a:cubicBezTo>
                  <a:lnTo>
                    <a:pt x="7329" y="10604"/>
                  </a:lnTo>
                  <a:cubicBezTo>
                    <a:pt x="6503" y="10604"/>
                    <a:pt x="5828" y="11263"/>
                    <a:pt x="5786" y="12096"/>
                  </a:cubicBezTo>
                  <a:lnTo>
                    <a:pt x="5786" y="16887"/>
                  </a:lnTo>
                  <a:lnTo>
                    <a:pt x="1157" y="16887"/>
                  </a:lnTo>
                  <a:cubicBezTo>
                    <a:pt x="517" y="16887"/>
                    <a:pt x="0" y="16361"/>
                    <a:pt x="0" y="15709"/>
                  </a:cubicBezTo>
                  <a:lnTo>
                    <a:pt x="0" y="8279"/>
                  </a:lnTo>
                  <a:cubicBezTo>
                    <a:pt x="0" y="7882"/>
                    <a:pt x="147" y="7497"/>
                    <a:pt x="417" y="7207"/>
                  </a:cubicBezTo>
                  <a:lnTo>
                    <a:pt x="2245" y="5212"/>
                  </a:lnTo>
                  <a:cubicBezTo>
                    <a:pt x="2538" y="4893"/>
                    <a:pt x="2947" y="4713"/>
                    <a:pt x="3371" y="4713"/>
                  </a:cubicBezTo>
                  <a:lnTo>
                    <a:pt x="5786" y="4713"/>
                  </a:lnTo>
                  <a:close/>
                  <a:moveTo>
                    <a:pt x="18707" y="7069"/>
                  </a:moveTo>
                  <a:cubicBezTo>
                    <a:pt x="18387" y="7069"/>
                    <a:pt x="18129" y="7332"/>
                    <a:pt x="18129" y="7658"/>
                  </a:cubicBezTo>
                  <a:cubicBezTo>
                    <a:pt x="18129" y="7984"/>
                    <a:pt x="18387" y="8247"/>
                    <a:pt x="18707" y="8247"/>
                  </a:cubicBezTo>
                  <a:cubicBezTo>
                    <a:pt x="19027" y="8247"/>
                    <a:pt x="19286" y="7984"/>
                    <a:pt x="19286" y="7658"/>
                  </a:cubicBezTo>
                  <a:cubicBezTo>
                    <a:pt x="19286" y="7332"/>
                    <a:pt x="19027" y="7069"/>
                    <a:pt x="18707" y="7069"/>
                  </a:cubicBezTo>
                  <a:close/>
                  <a:moveTo>
                    <a:pt x="13886" y="0"/>
                  </a:moveTo>
                  <a:cubicBezTo>
                    <a:pt x="14526" y="0"/>
                    <a:pt x="15043" y="526"/>
                    <a:pt x="15043" y="1178"/>
                  </a:cubicBezTo>
                  <a:lnTo>
                    <a:pt x="15043" y="4320"/>
                  </a:lnTo>
                  <a:cubicBezTo>
                    <a:pt x="15043" y="4972"/>
                    <a:pt x="14526" y="5498"/>
                    <a:pt x="13886" y="5498"/>
                  </a:cubicBezTo>
                  <a:lnTo>
                    <a:pt x="7714" y="5498"/>
                  </a:lnTo>
                  <a:cubicBezTo>
                    <a:pt x="7074" y="5498"/>
                    <a:pt x="6557" y="4972"/>
                    <a:pt x="6557" y="4320"/>
                  </a:cubicBezTo>
                  <a:lnTo>
                    <a:pt x="6557" y="1178"/>
                  </a:lnTo>
                  <a:cubicBezTo>
                    <a:pt x="6557" y="526"/>
                    <a:pt x="7074" y="0"/>
                    <a:pt x="7714" y="0"/>
                  </a:cubicBezTo>
                  <a:lnTo>
                    <a:pt x="13886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707">
                <a:lnSpc>
                  <a:spcPct val="80000"/>
                </a:lnSpc>
                <a:defRPr sz="4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3" name="文本框 30"/>
            <p:cNvSpPr txBox="1"/>
            <p:nvPr/>
          </p:nvSpPr>
          <p:spPr>
            <a:xfrm>
              <a:off x="1" y="-6350"/>
              <a:ext cx="9682371" cy="10337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/>
            <a:p>
              <a:pPr algn="l" defTabSz="1828800">
                <a:defRPr sz="4800"/>
              </a:pPr>
              <a:r>
                <a:rPr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自定义结算单组成—</a:t>
              </a:r>
              <a:r>
                <a:rPr>
                  <a:latin typeface="微软雅黑"/>
                  <a:ea typeface="微软雅黑"/>
                  <a:cs typeface="微软雅黑"/>
                  <a:sym typeface="微软雅黑"/>
                </a:rPr>
                <a:t>满足多种需求</a:t>
              </a:r>
            </a:p>
          </p:txBody>
        </p:sp>
      </p:grpSp>
      <p:pic>
        <p:nvPicPr>
          <p:cNvPr id="285" name="C:\Users\Administrator\Desktop\新建文件夹 (21)\png\06-00结算单申请.png" descr="C:\Users\Administrator\Desktop\新建文件夹 (21)\png\06-00结算单申请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237301" y="2847801"/>
            <a:ext cx="4737156" cy="8428304"/>
          </a:xfrm>
          <a:prstGeom prst="rect">
            <a:avLst/>
          </a:prstGeom>
          <a:ln w="25400">
            <a:miter lim="400000"/>
          </a:ln>
          <a:effectLst>
            <a:outerShdw sx="100000" sy="100000" kx="0" ky="0" algn="b" rotWithShape="0" blurRad="254000" dist="127000" dir="5400000">
              <a:srgbClr val="000000">
                <a:alpha val="32440"/>
              </a:srgbClr>
            </a:outerShdw>
          </a:effectLst>
        </p:spPr>
      </p:pic>
      <p:pic>
        <p:nvPicPr>
          <p:cNvPr id="286" name="图片 23" descr="图片 2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402977" y="2836150"/>
            <a:ext cx="4737156" cy="8465220"/>
          </a:xfrm>
          <a:prstGeom prst="rect">
            <a:avLst/>
          </a:prstGeom>
          <a:ln w="25400">
            <a:miter lim="400000"/>
          </a:ln>
          <a:effectLst>
            <a:outerShdw sx="100000" sy="100000" kx="0" ky="0" algn="b" rotWithShape="0" blurRad="254000" dist="127000" dir="5400000">
              <a:srgbClr val="000000">
                <a:alpha val="22797"/>
              </a:srgbClr>
            </a:outerShdw>
          </a:effectLst>
        </p:spPr>
      </p:pic>
      <p:sp>
        <p:nvSpPr>
          <p:cNvPr id="287" name="矩形 57"/>
          <p:cNvSpPr/>
          <p:nvPr/>
        </p:nvSpPr>
        <p:spPr>
          <a:xfrm>
            <a:off x="7898627" y="4396385"/>
            <a:ext cx="3745857" cy="5172012"/>
          </a:xfrm>
          <a:prstGeom prst="rect">
            <a:avLst/>
          </a:prstGeom>
          <a:ln w="44450">
            <a:solidFill>
              <a:schemeClr val="accent5">
                <a:hueOff val="-82419"/>
                <a:satOff val="-9513"/>
                <a:lumOff val="-16343"/>
              </a:schemeClr>
            </a:solidFill>
            <a:miter/>
          </a:ln>
        </p:spPr>
        <p:txBody>
          <a:bodyPr lIns="45719" rIns="45719" anchor="ctr"/>
          <a:lstStyle/>
          <a:p>
            <a:pPr>
              <a:defRPr b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288" name="文本框 162"/>
          <p:cNvSpPr txBox="1"/>
          <p:nvPr/>
        </p:nvSpPr>
        <p:spPr>
          <a:xfrm>
            <a:off x="8401356" y="3672116"/>
            <a:ext cx="2239672" cy="447041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defTabSz="457200">
              <a:def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自定义结算单内容</a:t>
            </a:r>
          </a:p>
        </p:txBody>
      </p:sp>
      <p:sp>
        <p:nvSpPr>
          <p:cNvPr id="289" name="Title 2"/>
          <p:cNvSpPr txBox="1"/>
          <p:nvPr>
            <p:ph type="title"/>
          </p:nvPr>
        </p:nvSpPr>
        <p:spPr>
          <a:xfrm>
            <a:off x="1339847" y="1"/>
            <a:ext cx="21701128" cy="2057400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831A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▌</a:t>
            </a:r>
            <a:r>
              <a:rPr>
                <a:solidFill>
                  <a:srgbClr val="000000"/>
                </a:solidFill>
              </a:rPr>
              <a:t>功能介绍—1、信息查询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itle 2"/>
          <p:cNvSpPr txBox="1"/>
          <p:nvPr>
            <p:ph type="title"/>
          </p:nvPr>
        </p:nvSpPr>
        <p:spPr>
          <a:xfrm>
            <a:off x="1339847" y="1"/>
            <a:ext cx="21701128" cy="2057400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831A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▌</a:t>
            </a:r>
            <a:r>
              <a:rPr>
                <a:solidFill>
                  <a:srgbClr val="000000"/>
                </a:solidFill>
              </a:rPr>
              <a:t>功能介绍—2、基本评估</a:t>
            </a:r>
          </a:p>
        </p:txBody>
      </p:sp>
      <p:sp>
        <p:nvSpPr>
          <p:cNvPr id="292" name="圆角矩形 9"/>
          <p:cNvSpPr/>
          <p:nvPr/>
        </p:nvSpPr>
        <p:spPr>
          <a:xfrm>
            <a:off x="1053717" y="3068444"/>
            <a:ext cx="5137635" cy="9270451"/>
          </a:xfrm>
          <a:prstGeom prst="roundRect">
            <a:avLst>
              <a:gd name="adj" fmla="val 5500"/>
            </a:avLst>
          </a:prstGeom>
          <a:solidFill>
            <a:srgbClr val="808080">
              <a:alpha val="10000"/>
            </a:srgbClr>
          </a:solidFill>
          <a:ln w="12700">
            <a:miter lim="400000"/>
          </a:ln>
        </p:spPr>
        <p:txBody>
          <a:bodyPr tIns="91439" bIns="91439" anchor="ctr"/>
          <a:lstStyle/>
          <a:p>
            <a:pPr defTabSz="1828707"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93" name="文本框 10"/>
          <p:cNvSpPr txBox="1"/>
          <p:nvPr/>
        </p:nvSpPr>
        <p:spPr>
          <a:xfrm>
            <a:off x="1378246" y="5097433"/>
            <a:ext cx="4488576" cy="81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1828800">
              <a:defRPr sz="36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r>
              <a:rPr>
                <a:latin typeface="微软雅黑"/>
                <a:ea typeface="微软雅黑"/>
                <a:cs typeface="微软雅黑"/>
                <a:sym typeface="微软雅黑"/>
              </a:rPr>
              <a:t>账户总览</a:t>
            </a:r>
          </a:p>
        </p:txBody>
      </p:sp>
      <p:sp>
        <p:nvSpPr>
          <p:cNvPr id="294" name="文本框 11"/>
          <p:cNvSpPr txBox="1"/>
          <p:nvPr/>
        </p:nvSpPr>
        <p:spPr>
          <a:xfrm>
            <a:off x="1233158" y="6137308"/>
            <a:ext cx="4774136" cy="1257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lnSpc>
                <a:spcPct val="120000"/>
              </a:lnSpc>
              <a:defRPr sz="3200">
                <a:solidFill>
                  <a:srgbClr val="0831A2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>
                <a:latin typeface="微软雅黑"/>
                <a:ea typeface="微软雅黑"/>
                <a:cs typeface="微软雅黑"/>
                <a:sym typeface="微软雅黑"/>
              </a:rPr>
              <a:t>满足用户非交易时间查询账户动态的需求</a:t>
            </a:r>
          </a:p>
        </p:txBody>
      </p:sp>
      <p:pic>
        <p:nvPicPr>
          <p:cNvPr id="295" name="Picture 18" descr="Picture 18"/>
          <p:cNvPicPr>
            <a:picLocks noChangeAspect="1"/>
          </p:cNvPicPr>
          <p:nvPr/>
        </p:nvPicPr>
        <p:blipFill>
          <a:blip r:embed="rId2">
            <a:extLst/>
          </a:blip>
          <a:srcRect l="1942" t="0" r="1940" b="1"/>
          <a:stretch>
            <a:fillRect/>
          </a:stretch>
        </p:blipFill>
        <p:spPr>
          <a:xfrm>
            <a:off x="6673576" y="3068576"/>
            <a:ext cx="4997054" cy="9270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496" y="0"/>
                </a:moveTo>
                <a:cubicBezTo>
                  <a:pt x="1118" y="0"/>
                  <a:pt x="0" y="602"/>
                  <a:pt x="0" y="1345"/>
                </a:cubicBezTo>
                <a:lnTo>
                  <a:pt x="0" y="20255"/>
                </a:lnTo>
                <a:cubicBezTo>
                  <a:pt x="0" y="20998"/>
                  <a:pt x="1118" y="21600"/>
                  <a:pt x="2496" y="21600"/>
                </a:cubicBezTo>
                <a:lnTo>
                  <a:pt x="19104" y="21600"/>
                </a:lnTo>
                <a:cubicBezTo>
                  <a:pt x="20482" y="21600"/>
                  <a:pt x="21600" y="20998"/>
                  <a:pt x="21600" y="20255"/>
                </a:cubicBezTo>
                <a:lnTo>
                  <a:pt x="21600" y="1345"/>
                </a:lnTo>
                <a:cubicBezTo>
                  <a:pt x="21600" y="602"/>
                  <a:pt x="20482" y="0"/>
                  <a:pt x="19104" y="0"/>
                </a:cubicBezTo>
                <a:lnTo>
                  <a:pt x="2496" y="0"/>
                </a:lnTo>
                <a:close/>
              </a:path>
            </a:pathLst>
          </a:custGeom>
          <a:ln w="25400">
            <a:miter lim="400000"/>
          </a:ln>
          <a:effectLst>
            <a:outerShdw sx="100000" sy="100000" kx="0" ky="0" algn="b" rotWithShape="0" blurRad="254000" dist="127000" dir="5400000">
              <a:srgbClr val="000000">
                <a:alpha val="9787"/>
              </a:srgbClr>
            </a:outerShdw>
          </a:effectLst>
        </p:spPr>
      </p:pic>
      <p:pic>
        <p:nvPicPr>
          <p:cNvPr id="296" name="Picture 19" descr="Picture 19"/>
          <p:cNvPicPr>
            <a:picLocks noChangeAspect="1"/>
          </p:cNvPicPr>
          <p:nvPr/>
        </p:nvPicPr>
        <p:blipFill>
          <a:blip r:embed="rId3">
            <a:extLst/>
          </a:blip>
          <a:srcRect l="2728" t="0" r="2729" b="0"/>
          <a:stretch>
            <a:fillRect/>
          </a:stretch>
        </p:blipFill>
        <p:spPr>
          <a:xfrm>
            <a:off x="18265062" y="3074018"/>
            <a:ext cx="4823620" cy="92593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495" y="0"/>
                </a:moveTo>
                <a:cubicBezTo>
                  <a:pt x="1117" y="0"/>
                  <a:pt x="0" y="582"/>
                  <a:pt x="0" y="1300"/>
                </a:cubicBezTo>
                <a:lnTo>
                  <a:pt x="0" y="20299"/>
                </a:lnTo>
                <a:cubicBezTo>
                  <a:pt x="0" y="21017"/>
                  <a:pt x="1117" y="21600"/>
                  <a:pt x="2495" y="21600"/>
                </a:cubicBezTo>
                <a:lnTo>
                  <a:pt x="19105" y="21600"/>
                </a:lnTo>
                <a:cubicBezTo>
                  <a:pt x="20483" y="21600"/>
                  <a:pt x="21600" y="21017"/>
                  <a:pt x="21600" y="20299"/>
                </a:cubicBezTo>
                <a:lnTo>
                  <a:pt x="21600" y="1300"/>
                </a:lnTo>
                <a:cubicBezTo>
                  <a:pt x="21600" y="582"/>
                  <a:pt x="20483" y="0"/>
                  <a:pt x="19105" y="0"/>
                </a:cubicBezTo>
                <a:lnTo>
                  <a:pt x="2495" y="0"/>
                </a:lnTo>
                <a:close/>
              </a:path>
            </a:pathLst>
          </a:custGeom>
          <a:ln w="25400">
            <a:miter lim="400000"/>
          </a:ln>
          <a:effectLst>
            <a:outerShdw sx="100000" sy="100000" kx="0" ky="0" algn="b" rotWithShape="0" blurRad="254000" dist="127000" dir="5400000">
              <a:srgbClr val="000000">
                <a:alpha val="9787"/>
              </a:srgbClr>
            </a:outerShdw>
          </a:effectLst>
        </p:spPr>
      </p:pic>
      <p:sp>
        <p:nvSpPr>
          <p:cNvPr id="297" name="TextBox 24"/>
          <p:cNvSpPr txBox="1"/>
          <p:nvPr/>
        </p:nvSpPr>
        <p:spPr>
          <a:xfrm>
            <a:off x="1303393" y="7633369"/>
            <a:ext cx="4633663" cy="4500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just" defTabSz="1828800">
              <a:lnSpc>
                <a:spcPct val="150000"/>
              </a:lnSpc>
              <a:defRPr b="0" sz="28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>
                <a:latin typeface="HelveticaNeue"/>
                <a:ea typeface="HelveticaNeue"/>
                <a:cs typeface="HelveticaNeue"/>
                <a:sym typeface="HelveticaNeue"/>
              </a:defRPr>
            </a:pPr>
            <a:r>
              <a:rPr>
                <a:latin typeface="微软雅黑"/>
                <a:ea typeface="微软雅黑"/>
                <a:cs typeface="微软雅黑"/>
                <a:sym typeface="微软雅黑"/>
              </a:rPr>
              <a:t>用户随时随地登录交易系统查询自己账户情况，了解保证金、盈亏、风险度等期货交易数据，通过近期的重要指标判断是否调整交易策略。</a:t>
            </a:r>
          </a:p>
        </p:txBody>
      </p:sp>
      <p:sp>
        <p:nvSpPr>
          <p:cNvPr id="298" name="人脸对比"/>
          <p:cNvSpPr txBox="1"/>
          <p:nvPr/>
        </p:nvSpPr>
        <p:spPr>
          <a:xfrm>
            <a:off x="9980775" y="1314353"/>
            <a:ext cx="2472147" cy="589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6" tIns="91436" rIns="91436" bIns="91436">
            <a:spAutoFit/>
          </a:bodyPr>
          <a:lstStyle/>
          <a:p>
            <a:pPr algn="l" defTabSz="1828800">
              <a:defRPr b="0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FZZhengHeiS-DB-GB"/>
                <a:ea typeface="FZZhengHeiS-DB-GB"/>
                <a:cs typeface="FZZhengHeiS-DB-GB"/>
                <a:sym typeface="FZZhengHeiS-DB-GB"/>
              </a:defRPr>
            </a:pPr>
            <a:r>
              <a:t>数据至到</a:t>
            </a:r>
            <a:r>
              <a:t>T-1</a:t>
            </a:r>
            <a:r>
              <a:t>日</a:t>
            </a:r>
          </a:p>
        </p:txBody>
      </p:sp>
      <p:grpSp>
        <p:nvGrpSpPr>
          <p:cNvPr id="301" name="成组"/>
          <p:cNvGrpSpPr/>
          <p:nvPr/>
        </p:nvGrpSpPr>
        <p:grpSpPr>
          <a:xfrm>
            <a:off x="1525733" y="3552490"/>
            <a:ext cx="1253071" cy="1026783"/>
            <a:chOff x="0" y="0"/>
            <a:chExt cx="1253070" cy="1026781"/>
          </a:xfrm>
        </p:grpSpPr>
        <p:sp>
          <p:nvSpPr>
            <p:cNvPr id="299" name="Flowchart: Process 20"/>
            <p:cNvSpPr/>
            <p:nvPr/>
          </p:nvSpPr>
          <p:spPr>
            <a:xfrm>
              <a:off x="0" y="0"/>
              <a:ext cx="1253071" cy="1026782"/>
            </a:xfrm>
            <a:prstGeom prst="rect">
              <a:avLst/>
            </a:prstGeom>
            <a:solidFill>
              <a:srgbClr val="0831A2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b="0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pic>
          <p:nvPicPr>
            <p:cNvPr id="300" name="图像" descr="图像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320202" y="198048"/>
              <a:ext cx="612667" cy="6306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02" name="圆角矩形 9"/>
          <p:cNvSpPr/>
          <p:nvPr/>
        </p:nvSpPr>
        <p:spPr>
          <a:xfrm>
            <a:off x="12477383" y="3195444"/>
            <a:ext cx="5137635" cy="9270451"/>
          </a:xfrm>
          <a:prstGeom prst="roundRect">
            <a:avLst>
              <a:gd name="adj" fmla="val 5500"/>
            </a:avLst>
          </a:prstGeom>
          <a:solidFill>
            <a:srgbClr val="808080">
              <a:alpha val="10000"/>
            </a:srgbClr>
          </a:solidFill>
          <a:ln w="12700">
            <a:miter lim="400000"/>
          </a:ln>
        </p:spPr>
        <p:txBody>
          <a:bodyPr tIns="91439" bIns="91439" anchor="ctr"/>
          <a:lstStyle/>
          <a:p>
            <a:pPr defTabSz="1828707"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03" name="文本框 10"/>
          <p:cNvSpPr txBox="1"/>
          <p:nvPr/>
        </p:nvSpPr>
        <p:spPr>
          <a:xfrm>
            <a:off x="12727059" y="5224433"/>
            <a:ext cx="4488577" cy="81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1828800">
              <a:defRPr sz="36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持仓统计</a:t>
            </a:r>
          </a:p>
        </p:txBody>
      </p:sp>
      <p:sp>
        <p:nvSpPr>
          <p:cNvPr id="304" name="文本框 11"/>
          <p:cNvSpPr txBox="1"/>
          <p:nvPr/>
        </p:nvSpPr>
        <p:spPr>
          <a:xfrm>
            <a:off x="12656825" y="6264308"/>
            <a:ext cx="4774135" cy="1257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828800">
              <a:lnSpc>
                <a:spcPct val="120000"/>
              </a:lnSpc>
              <a:defRPr sz="3200">
                <a:solidFill>
                  <a:srgbClr val="0831A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  <a:sym typeface="微软雅黑"/>
              </a:rPr>
              <a:t>多维度持仓情况</a:t>
            </a:r>
            <a:endParaRPr>
              <a:latin typeface="微软雅黑"/>
              <a:ea typeface="微软雅黑"/>
              <a:cs typeface="微软雅黑"/>
              <a:sym typeface="微软雅黑"/>
            </a:endParaRPr>
          </a:p>
          <a:p>
            <a:pPr defTabSz="1828800">
              <a:lnSpc>
                <a:spcPct val="150000"/>
              </a:lnSpc>
              <a:defRPr sz="3200">
                <a:solidFill>
                  <a:srgbClr val="0831A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  <a:sym typeface="微软雅黑"/>
              </a:rPr>
              <a:t>满足多场景分析</a:t>
            </a:r>
          </a:p>
        </p:txBody>
      </p:sp>
      <p:sp>
        <p:nvSpPr>
          <p:cNvPr id="305" name="TextBox 24"/>
          <p:cNvSpPr txBox="1"/>
          <p:nvPr/>
        </p:nvSpPr>
        <p:spPr>
          <a:xfrm>
            <a:off x="12727059" y="7760369"/>
            <a:ext cx="4633663" cy="3662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just" defTabSz="1828800">
              <a:lnSpc>
                <a:spcPct val="150000"/>
              </a:lnSpc>
              <a:defRPr b="0" sz="2800">
                <a:solidFill>
                  <a:srgbClr val="333333"/>
                </a:solidFill>
                <a:latin typeface="新宋体"/>
                <a:ea typeface="新宋体"/>
                <a:cs typeface="新宋体"/>
                <a:sym typeface="新宋体"/>
              </a:defRPr>
            </a:lvl1pPr>
          </a:lstStyle>
          <a:p>
            <a:pPr>
              <a:defRPr>
                <a:latin typeface="HelveticaNeue"/>
                <a:ea typeface="HelveticaNeue"/>
                <a:cs typeface="HelveticaNeue"/>
                <a:sym typeface="HelveticaNeue"/>
              </a:defRPr>
            </a:pPr>
            <a:r>
              <a:rPr>
                <a:latin typeface="新宋体"/>
                <a:ea typeface="新宋体"/>
                <a:cs typeface="新宋体"/>
                <a:sym typeface="新宋体"/>
              </a:rPr>
              <a:t>投资者最新持仓情况，包括持仓结构、持仓多空分布。投资者可多角度了解持仓情况。</a:t>
            </a:r>
            <a:endParaRPr>
              <a:latin typeface="新宋体"/>
              <a:ea typeface="新宋体"/>
              <a:cs typeface="新宋体"/>
              <a:sym typeface="新宋体"/>
            </a:endParaRPr>
          </a:p>
        </p:txBody>
      </p:sp>
      <p:grpSp>
        <p:nvGrpSpPr>
          <p:cNvPr id="308" name="成组"/>
          <p:cNvGrpSpPr/>
          <p:nvPr/>
        </p:nvGrpSpPr>
        <p:grpSpPr>
          <a:xfrm>
            <a:off x="12949399" y="3679490"/>
            <a:ext cx="1253071" cy="1026783"/>
            <a:chOff x="0" y="0"/>
            <a:chExt cx="1253070" cy="1026781"/>
          </a:xfrm>
        </p:grpSpPr>
        <p:sp>
          <p:nvSpPr>
            <p:cNvPr id="306" name="Flowchart: Process 20"/>
            <p:cNvSpPr/>
            <p:nvPr/>
          </p:nvSpPr>
          <p:spPr>
            <a:xfrm>
              <a:off x="0" y="0"/>
              <a:ext cx="1253071" cy="1026782"/>
            </a:xfrm>
            <a:prstGeom prst="rect">
              <a:avLst/>
            </a:prstGeom>
            <a:solidFill>
              <a:srgbClr val="0831A2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b="0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pic>
          <p:nvPicPr>
            <p:cNvPr id="307" name="图像" descr="图像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290290" y="182943"/>
              <a:ext cx="672491" cy="66089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Picture 19" descr="Picture 19"/>
          <p:cNvPicPr>
            <a:picLocks noChangeAspect="1"/>
          </p:cNvPicPr>
          <p:nvPr/>
        </p:nvPicPr>
        <p:blipFill>
          <a:blip r:embed="rId2">
            <a:extLst/>
          </a:blip>
          <a:srcRect l="3578" t="0" r="3579" b="0"/>
          <a:stretch>
            <a:fillRect/>
          </a:stretch>
        </p:blipFill>
        <p:spPr>
          <a:xfrm>
            <a:off x="8103083" y="2941655"/>
            <a:ext cx="4823620" cy="92593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495" y="0"/>
                </a:moveTo>
                <a:cubicBezTo>
                  <a:pt x="1117" y="0"/>
                  <a:pt x="0" y="582"/>
                  <a:pt x="0" y="1300"/>
                </a:cubicBezTo>
                <a:lnTo>
                  <a:pt x="0" y="20299"/>
                </a:lnTo>
                <a:cubicBezTo>
                  <a:pt x="0" y="21017"/>
                  <a:pt x="1117" y="21600"/>
                  <a:pt x="2495" y="21600"/>
                </a:cubicBezTo>
                <a:lnTo>
                  <a:pt x="19105" y="21600"/>
                </a:lnTo>
                <a:cubicBezTo>
                  <a:pt x="20483" y="21600"/>
                  <a:pt x="21600" y="21017"/>
                  <a:pt x="21600" y="20299"/>
                </a:cubicBezTo>
                <a:lnTo>
                  <a:pt x="21600" y="1300"/>
                </a:lnTo>
                <a:cubicBezTo>
                  <a:pt x="21600" y="582"/>
                  <a:pt x="20483" y="0"/>
                  <a:pt x="19105" y="0"/>
                </a:cubicBezTo>
                <a:lnTo>
                  <a:pt x="2495" y="0"/>
                </a:lnTo>
                <a:close/>
              </a:path>
            </a:pathLst>
          </a:custGeom>
          <a:ln w="25400">
            <a:miter lim="400000"/>
          </a:ln>
          <a:effectLst>
            <a:outerShdw sx="100000" sy="100000" kx="0" ky="0" algn="b" rotWithShape="0" blurRad="254000" dist="127000" dir="5400000">
              <a:srgbClr val="000000">
                <a:alpha val="9787"/>
              </a:srgbClr>
            </a:outerShdw>
          </a:effectLst>
        </p:spPr>
      </p:pic>
      <p:pic>
        <p:nvPicPr>
          <p:cNvPr id="311" name="Picture 19" descr="Picture 19"/>
          <p:cNvPicPr>
            <a:picLocks noChangeAspect="1"/>
          </p:cNvPicPr>
          <p:nvPr/>
        </p:nvPicPr>
        <p:blipFill>
          <a:blip r:embed="rId3">
            <a:extLst/>
          </a:blip>
          <a:srcRect l="0" t="335" r="1" b="29231"/>
          <a:stretch>
            <a:fillRect/>
          </a:stretch>
        </p:blipFill>
        <p:spPr>
          <a:xfrm>
            <a:off x="13346388" y="2941655"/>
            <a:ext cx="4823620" cy="92594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495" y="0"/>
                </a:moveTo>
                <a:cubicBezTo>
                  <a:pt x="1117" y="0"/>
                  <a:pt x="0" y="582"/>
                  <a:pt x="0" y="1300"/>
                </a:cubicBezTo>
                <a:lnTo>
                  <a:pt x="0" y="20299"/>
                </a:lnTo>
                <a:cubicBezTo>
                  <a:pt x="0" y="21017"/>
                  <a:pt x="1117" y="21600"/>
                  <a:pt x="2495" y="21600"/>
                </a:cubicBezTo>
                <a:lnTo>
                  <a:pt x="19105" y="21600"/>
                </a:lnTo>
                <a:cubicBezTo>
                  <a:pt x="20483" y="21600"/>
                  <a:pt x="21600" y="21017"/>
                  <a:pt x="21600" y="20299"/>
                </a:cubicBezTo>
                <a:lnTo>
                  <a:pt x="21600" y="1300"/>
                </a:lnTo>
                <a:cubicBezTo>
                  <a:pt x="21600" y="582"/>
                  <a:pt x="20483" y="0"/>
                  <a:pt x="19105" y="0"/>
                </a:cubicBezTo>
                <a:lnTo>
                  <a:pt x="2495" y="0"/>
                </a:lnTo>
                <a:close/>
              </a:path>
            </a:pathLst>
          </a:custGeom>
          <a:ln w="25400">
            <a:miter lim="400000"/>
          </a:ln>
          <a:effectLst>
            <a:outerShdw sx="100000" sy="100000" kx="0" ky="0" algn="b" rotWithShape="0" blurRad="254000" dist="127000" dir="5400000">
              <a:srgbClr val="000000">
                <a:alpha val="9787"/>
              </a:srgbClr>
            </a:outerShdw>
          </a:effectLst>
        </p:spPr>
      </p:pic>
      <p:pic>
        <p:nvPicPr>
          <p:cNvPr id="312" name="Picture 19" descr="Picture 19"/>
          <p:cNvPicPr>
            <a:picLocks noChangeAspect="1"/>
          </p:cNvPicPr>
          <p:nvPr/>
        </p:nvPicPr>
        <p:blipFill>
          <a:blip r:embed="rId4">
            <a:extLst/>
          </a:blip>
          <a:srcRect l="0" t="1" r="1" b="4849"/>
          <a:stretch>
            <a:fillRect/>
          </a:stretch>
        </p:blipFill>
        <p:spPr>
          <a:xfrm>
            <a:off x="18589693" y="2944830"/>
            <a:ext cx="4823619" cy="92563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357" y="0"/>
                </a:moveTo>
                <a:cubicBezTo>
                  <a:pt x="1044" y="38"/>
                  <a:pt x="0" y="599"/>
                  <a:pt x="0" y="1293"/>
                </a:cubicBezTo>
                <a:lnTo>
                  <a:pt x="0" y="20299"/>
                </a:lnTo>
                <a:cubicBezTo>
                  <a:pt x="0" y="21017"/>
                  <a:pt x="1117" y="21600"/>
                  <a:pt x="2495" y="21600"/>
                </a:cubicBezTo>
                <a:lnTo>
                  <a:pt x="19105" y="21600"/>
                </a:lnTo>
                <a:cubicBezTo>
                  <a:pt x="20483" y="21600"/>
                  <a:pt x="21600" y="21017"/>
                  <a:pt x="21600" y="20299"/>
                </a:cubicBezTo>
                <a:lnTo>
                  <a:pt x="21600" y="1293"/>
                </a:lnTo>
                <a:cubicBezTo>
                  <a:pt x="21600" y="599"/>
                  <a:pt x="20556" y="38"/>
                  <a:pt x="19243" y="0"/>
                </a:cubicBezTo>
                <a:lnTo>
                  <a:pt x="2357" y="0"/>
                </a:lnTo>
                <a:close/>
              </a:path>
            </a:pathLst>
          </a:custGeom>
          <a:ln w="25400">
            <a:miter lim="400000"/>
          </a:ln>
          <a:effectLst>
            <a:outerShdw sx="100000" sy="100000" kx="0" ky="0" algn="b" rotWithShape="0" blurRad="254000" dist="127000" dir="5400000">
              <a:srgbClr val="000000">
                <a:alpha val="9787"/>
              </a:srgbClr>
            </a:outerShdw>
          </a:effectLst>
        </p:spPr>
      </p:pic>
      <p:sp>
        <p:nvSpPr>
          <p:cNvPr id="313" name="圆角矩形 9"/>
          <p:cNvSpPr/>
          <p:nvPr/>
        </p:nvSpPr>
        <p:spPr>
          <a:xfrm>
            <a:off x="2101718" y="2936176"/>
            <a:ext cx="5137635" cy="9270451"/>
          </a:xfrm>
          <a:prstGeom prst="roundRect">
            <a:avLst>
              <a:gd name="adj" fmla="val 5500"/>
            </a:avLst>
          </a:prstGeom>
          <a:solidFill>
            <a:srgbClr val="808080">
              <a:alpha val="10000"/>
            </a:srgbClr>
          </a:solidFill>
          <a:ln w="12700">
            <a:miter lim="400000"/>
          </a:ln>
        </p:spPr>
        <p:txBody>
          <a:bodyPr tIns="91439" bIns="91439" anchor="ctr"/>
          <a:lstStyle/>
          <a:p>
            <a:pPr defTabSz="1828707"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14" name="文本框 10"/>
          <p:cNvSpPr txBox="1"/>
          <p:nvPr/>
        </p:nvSpPr>
        <p:spPr>
          <a:xfrm>
            <a:off x="2351394" y="4965164"/>
            <a:ext cx="4488577" cy="81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l" defTabSz="1828800">
              <a:defRPr sz="36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基本分析</a:t>
            </a:r>
          </a:p>
        </p:txBody>
      </p:sp>
      <p:sp>
        <p:nvSpPr>
          <p:cNvPr id="315" name="文本框 11"/>
          <p:cNvSpPr txBox="1"/>
          <p:nvPr/>
        </p:nvSpPr>
        <p:spPr>
          <a:xfrm>
            <a:off x="2281159" y="6005039"/>
            <a:ext cx="4774136" cy="1257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828800">
              <a:lnSpc>
                <a:spcPct val="120000"/>
              </a:lnSpc>
              <a:defRPr sz="3200">
                <a:solidFill>
                  <a:srgbClr val="0831A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基本面数据全方位</a:t>
            </a:r>
          </a:p>
          <a:p>
            <a:pPr defTabSz="1828800">
              <a:lnSpc>
                <a:spcPct val="120000"/>
              </a:lnSpc>
              <a:defRPr sz="3200">
                <a:solidFill>
                  <a:srgbClr val="0831A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分析</a:t>
            </a:r>
          </a:p>
        </p:txBody>
      </p:sp>
      <p:sp>
        <p:nvSpPr>
          <p:cNvPr id="316" name="TextBox 24"/>
          <p:cNvSpPr txBox="1"/>
          <p:nvPr/>
        </p:nvSpPr>
        <p:spPr>
          <a:xfrm>
            <a:off x="2351394" y="7501101"/>
            <a:ext cx="4633663" cy="2900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algn="just" defTabSz="1828800">
              <a:lnSpc>
                <a:spcPct val="150000"/>
              </a:lnSpc>
              <a:defRPr b="0" sz="2800">
                <a:solidFill>
                  <a:srgbClr val="333333"/>
                </a:solidFill>
                <a:latin typeface="新宋体"/>
                <a:ea typeface="新宋体"/>
                <a:cs typeface="新宋体"/>
                <a:sym typeface="新宋体"/>
              </a:defRPr>
            </a:lvl1pPr>
          </a:lstStyle>
          <a:p>
            <a:pPr>
              <a:defRPr>
                <a:latin typeface="HelveticaNeue BlackCond"/>
                <a:ea typeface="HelveticaNeue BlackCond"/>
                <a:cs typeface="HelveticaNeue BlackCond"/>
                <a:sym typeface="HelveticaNeue BlackCond"/>
              </a:defRPr>
            </a:pPr>
            <a:r>
              <a:rPr>
                <a:latin typeface="新宋体"/>
                <a:ea typeface="新宋体"/>
                <a:cs typeface="新宋体"/>
                <a:sym typeface="新宋体"/>
              </a:rPr>
              <a:t>投资者自定义时间范围内的交易指标，资金情况、交易情况、适应性分析。</a:t>
            </a:r>
            <a:endParaRPr>
              <a:latin typeface="新宋体"/>
              <a:ea typeface="新宋体"/>
              <a:cs typeface="新宋体"/>
              <a:sym typeface="新宋体"/>
            </a:endParaRPr>
          </a:p>
        </p:txBody>
      </p:sp>
      <p:grpSp>
        <p:nvGrpSpPr>
          <p:cNvPr id="319" name="成组"/>
          <p:cNvGrpSpPr/>
          <p:nvPr/>
        </p:nvGrpSpPr>
        <p:grpSpPr>
          <a:xfrm>
            <a:off x="2573734" y="3420221"/>
            <a:ext cx="1253071" cy="1026783"/>
            <a:chOff x="0" y="0"/>
            <a:chExt cx="1253070" cy="1026781"/>
          </a:xfrm>
        </p:grpSpPr>
        <p:sp>
          <p:nvSpPr>
            <p:cNvPr id="317" name="Flowchart: Process 20"/>
            <p:cNvSpPr/>
            <p:nvPr/>
          </p:nvSpPr>
          <p:spPr>
            <a:xfrm>
              <a:off x="0" y="0"/>
              <a:ext cx="1253071" cy="1026782"/>
            </a:xfrm>
            <a:prstGeom prst="rect">
              <a:avLst/>
            </a:prstGeom>
            <a:solidFill>
              <a:srgbClr val="0831A2"/>
            </a:solidFill>
            <a:ln w="12700" cap="flat">
              <a:noFill/>
              <a:miter lim="400000"/>
            </a:ln>
            <a:effectLst/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800">
                <a:defRPr b="0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pic>
          <p:nvPicPr>
            <p:cNvPr id="318" name="图像" descr="图像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290290" y="182943"/>
              <a:ext cx="672491" cy="66089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20" name="Title 2"/>
          <p:cNvSpPr txBox="1"/>
          <p:nvPr>
            <p:ph type="title"/>
          </p:nvPr>
        </p:nvSpPr>
        <p:spPr>
          <a:xfrm>
            <a:off x="1339847" y="1"/>
            <a:ext cx="21701128" cy="2057400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831A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▌</a:t>
            </a:r>
            <a:r>
              <a:rPr>
                <a:solidFill>
                  <a:srgbClr val="000000"/>
                </a:solidFill>
              </a:rPr>
              <a:t>功能介绍—2、基本评估</a:t>
            </a:r>
          </a:p>
        </p:txBody>
      </p:sp>
      <p:sp>
        <p:nvSpPr>
          <p:cNvPr id="321" name="人脸对比"/>
          <p:cNvSpPr txBox="1"/>
          <p:nvPr/>
        </p:nvSpPr>
        <p:spPr>
          <a:xfrm>
            <a:off x="9980775" y="1314353"/>
            <a:ext cx="2472147" cy="589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6" tIns="91436" rIns="91436" bIns="91436">
            <a:spAutoFit/>
          </a:bodyPr>
          <a:lstStyle/>
          <a:p>
            <a:pPr algn="l" defTabSz="1828800">
              <a:defRPr b="0" sz="2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FZZhengHeiS-DB-GB"/>
                <a:ea typeface="FZZhengHeiS-DB-GB"/>
                <a:cs typeface="FZZhengHeiS-DB-GB"/>
                <a:sym typeface="FZZhengHeiS-DB-GB"/>
              </a:defRPr>
            </a:pPr>
            <a:r>
              <a:t>数据至到</a:t>
            </a:r>
            <a:r>
              <a:t>T-1</a:t>
            </a:r>
            <a:r>
              <a:t>日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Title 2"/>
          <p:cNvSpPr txBox="1"/>
          <p:nvPr>
            <p:ph type="title"/>
          </p:nvPr>
        </p:nvSpPr>
        <p:spPr>
          <a:xfrm>
            <a:off x="1339847" y="1"/>
            <a:ext cx="21701128" cy="2057400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831A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▌</a:t>
            </a:r>
            <a:r>
              <a:rPr>
                <a:solidFill>
                  <a:srgbClr val="000000"/>
                </a:solidFill>
              </a:rPr>
              <a:t>功能介绍—3、交易分析</a:t>
            </a:r>
          </a:p>
        </p:txBody>
      </p:sp>
      <p:grpSp>
        <p:nvGrpSpPr>
          <p:cNvPr id="326" name="成组"/>
          <p:cNvGrpSpPr/>
          <p:nvPr/>
        </p:nvGrpSpPr>
        <p:grpSpPr>
          <a:xfrm>
            <a:off x="10097" y="9475902"/>
            <a:ext cx="25610680" cy="9982251"/>
            <a:chOff x="-2" y="0"/>
            <a:chExt cx="25610678" cy="9982249"/>
          </a:xfrm>
        </p:grpSpPr>
        <p:pic>
          <p:nvPicPr>
            <p:cNvPr id="324" name="图像" descr="图像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7168" r="0" b="0"/>
            <a:stretch>
              <a:fillRect/>
            </a:stretch>
          </p:blipFill>
          <p:spPr>
            <a:xfrm>
              <a:off x="-3" y="32457"/>
              <a:ext cx="25610680" cy="99497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5" name="矩形"/>
            <p:cNvSpPr/>
            <p:nvPr/>
          </p:nvSpPr>
          <p:spPr>
            <a:xfrm>
              <a:off x="534419" y="0"/>
              <a:ext cx="24541831" cy="2581111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23858"/>
                  </a:srgbClr>
                </a:gs>
                <a:gs pos="100000">
                  <a:srgbClr val="FFFFFF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91436" tIns="91436" rIns="91436" bIns="91436" numCol="1" anchor="ctr">
              <a:noAutofit/>
            </a:bodyPr>
            <a:lstStyle/>
            <a:p>
              <a:pPr algn="l" defTabSz="1828800">
                <a:defRPr b="0" sz="3600"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sp>
        <p:nvSpPr>
          <p:cNvPr id="327" name="TextBox 9"/>
          <p:cNvSpPr txBox="1"/>
          <p:nvPr/>
        </p:nvSpPr>
        <p:spPr>
          <a:xfrm>
            <a:off x="2540383" y="2409680"/>
            <a:ext cx="19303235" cy="1579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defTabSz="1828800">
              <a:lnSpc>
                <a:spcPct val="120000"/>
              </a:lnSpc>
              <a:defRPr b="0" sz="36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>
                <a:latin typeface="新宋体"/>
                <a:ea typeface="新宋体"/>
                <a:cs typeface="新宋体"/>
                <a:sym typeface="新宋体"/>
              </a:rPr>
              <a:t>投资者选择的时间范围内，统计盈亏情况与累计资金收益率、品种盈亏、盈亏比、风险度等</a:t>
            </a:r>
            <a:endParaRPr>
              <a:latin typeface="新宋体"/>
              <a:ea typeface="新宋体"/>
              <a:cs typeface="新宋体"/>
              <a:sym typeface="新宋体"/>
            </a:endParaRPr>
          </a:p>
          <a:p>
            <a:pPr defTabSz="1828800">
              <a:lnSpc>
                <a:spcPct val="120000"/>
              </a:lnSpc>
              <a:defRPr b="0" sz="36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>
                <a:latin typeface="新宋体"/>
                <a:ea typeface="新宋体"/>
                <a:cs typeface="新宋体"/>
                <a:sym typeface="新宋体"/>
              </a:rPr>
              <a:t>多角度呈现历史交易状况，投资者可全方位交易复盘分析</a:t>
            </a:r>
          </a:p>
        </p:txBody>
      </p:sp>
      <p:grpSp>
        <p:nvGrpSpPr>
          <p:cNvPr id="333" name="成组"/>
          <p:cNvGrpSpPr/>
          <p:nvPr/>
        </p:nvGrpSpPr>
        <p:grpSpPr>
          <a:xfrm>
            <a:off x="1162003" y="4333374"/>
            <a:ext cx="22059962" cy="7562454"/>
            <a:chOff x="0" y="0"/>
            <a:chExt cx="22059961" cy="7562453"/>
          </a:xfrm>
        </p:grpSpPr>
        <p:pic>
          <p:nvPicPr>
            <p:cNvPr id="328" name="成组" descr="成组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1636" t="0" r="1637" b="0"/>
            <a:stretch>
              <a:fillRect/>
            </a:stretch>
          </p:blipFill>
          <p:spPr>
            <a:xfrm>
              <a:off x="-1" y="-1"/>
              <a:ext cx="4112023" cy="75622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21600" fill="norm" stroke="1" extrusionOk="0">
                  <a:moveTo>
                    <a:pt x="3264" y="0"/>
                  </a:moveTo>
                  <a:cubicBezTo>
                    <a:pt x="2325" y="0"/>
                    <a:pt x="1849" y="0"/>
                    <a:pt x="1348" y="75"/>
                  </a:cubicBezTo>
                  <a:cubicBezTo>
                    <a:pt x="796" y="169"/>
                    <a:pt x="359" y="374"/>
                    <a:pt x="158" y="633"/>
                  </a:cubicBezTo>
                  <a:cubicBezTo>
                    <a:pt x="-2" y="870"/>
                    <a:pt x="0" y="1091"/>
                    <a:pt x="0" y="1530"/>
                  </a:cubicBezTo>
                  <a:lnTo>
                    <a:pt x="0" y="20064"/>
                  </a:lnTo>
                  <a:cubicBezTo>
                    <a:pt x="0" y="20509"/>
                    <a:pt x="-2" y="20730"/>
                    <a:pt x="158" y="20967"/>
                  </a:cubicBezTo>
                  <a:cubicBezTo>
                    <a:pt x="359" y="21226"/>
                    <a:pt x="796" y="21430"/>
                    <a:pt x="1348" y="21524"/>
                  </a:cubicBezTo>
                  <a:cubicBezTo>
                    <a:pt x="1852" y="21599"/>
                    <a:pt x="2328" y="21600"/>
                    <a:pt x="3264" y="21600"/>
                  </a:cubicBezTo>
                  <a:lnTo>
                    <a:pt x="18320" y="21600"/>
                  </a:lnTo>
                  <a:cubicBezTo>
                    <a:pt x="19270" y="21600"/>
                    <a:pt x="19744" y="21599"/>
                    <a:pt x="20248" y="21524"/>
                  </a:cubicBezTo>
                  <a:cubicBezTo>
                    <a:pt x="20800" y="21430"/>
                    <a:pt x="21237" y="21226"/>
                    <a:pt x="21438" y="20967"/>
                  </a:cubicBezTo>
                  <a:cubicBezTo>
                    <a:pt x="21598" y="20730"/>
                    <a:pt x="21596" y="20509"/>
                    <a:pt x="21596" y="20070"/>
                  </a:cubicBezTo>
                  <a:lnTo>
                    <a:pt x="21596" y="1536"/>
                  </a:lnTo>
                  <a:cubicBezTo>
                    <a:pt x="21596" y="1091"/>
                    <a:pt x="21598" y="870"/>
                    <a:pt x="21438" y="633"/>
                  </a:cubicBezTo>
                  <a:cubicBezTo>
                    <a:pt x="21237" y="374"/>
                    <a:pt x="20800" y="169"/>
                    <a:pt x="20248" y="75"/>
                  </a:cubicBezTo>
                  <a:cubicBezTo>
                    <a:pt x="19744" y="0"/>
                    <a:pt x="19268" y="0"/>
                    <a:pt x="18332" y="0"/>
                  </a:cubicBezTo>
                  <a:lnTo>
                    <a:pt x="3264" y="0"/>
                  </a:lnTo>
                  <a:close/>
                </a:path>
              </a:pathLst>
            </a:custGeom>
            <a:ln w="25400" cap="flat">
              <a:solidFill>
                <a:srgbClr val="3366CC"/>
              </a:solidFill>
              <a:prstDash val="solid"/>
              <a:round/>
            </a:ln>
            <a:effectLst/>
          </p:spPr>
        </p:pic>
        <p:pic>
          <p:nvPicPr>
            <p:cNvPr id="329" name="成组" descr="成组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1414" t="0" r="1415" b="0"/>
            <a:stretch>
              <a:fillRect/>
            </a:stretch>
          </p:blipFill>
          <p:spPr>
            <a:xfrm>
              <a:off x="4597709" y="-1"/>
              <a:ext cx="4112023" cy="75622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21600" fill="norm" stroke="1" extrusionOk="0">
                  <a:moveTo>
                    <a:pt x="3264" y="0"/>
                  </a:moveTo>
                  <a:cubicBezTo>
                    <a:pt x="2325" y="0"/>
                    <a:pt x="1849" y="0"/>
                    <a:pt x="1348" y="75"/>
                  </a:cubicBezTo>
                  <a:cubicBezTo>
                    <a:pt x="796" y="169"/>
                    <a:pt x="359" y="374"/>
                    <a:pt x="158" y="633"/>
                  </a:cubicBezTo>
                  <a:cubicBezTo>
                    <a:pt x="-2" y="870"/>
                    <a:pt x="0" y="1091"/>
                    <a:pt x="0" y="1530"/>
                  </a:cubicBezTo>
                  <a:lnTo>
                    <a:pt x="0" y="20064"/>
                  </a:lnTo>
                  <a:cubicBezTo>
                    <a:pt x="0" y="20509"/>
                    <a:pt x="-2" y="20730"/>
                    <a:pt x="158" y="20967"/>
                  </a:cubicBezTo>
                  <a:cubicBezTo>
                    <a:pt x="359" y="21226"/>
                    <a:pt x="796" y="21430"/>
                    <a:pt x="1348" y="21524"/>
                  </a:cubicBezTo>
                  <a:cubicBezTo>
                    <a:pt x="1852" y="21599"/>
                    <a:pt x="2328" y="21600"/>
                    <a:pt x="3264" y="21600"/>
                  </a:cubicBezTo>
                  <a:lnTo>
                    <a:pt x="18320" y="21600"/>
                  </a:lnTo>
                  <a:cubicBezTo>
                    <a:pt x="19270" y="21600"/>
                    <a:pt x="19744" y="21599"/>
                    <a:pt x="20248" y="21524"/>
                  </a:cubicBezTo>
                  <a:cubicBezTo>
                    <a:pt x="20800" y="21430"/>
                    <a:pt x="21237" y="21226"/>
                    <a:pt x="21438" y="20967"/>
                  </a:cubicBezTo>
                  <a:cubicBezTo>
                    <a:pt x="21598" y="20730"/>
                    <a:pt x="21596" y="20509"/>
                    <a:pt x="21596" y="20070"/>
                  </a:cubicBezTo>
                  <a:lnTo>
                    <a:pt x="21596" y="1536"/>
                  </a:lnTo>
                  <a:cubicBezTo>
                    <a:pt x="21596" y="1091"/>
                    <a:pt x="21598" y="870"/>
                    <a:pt x="21438" y="633"/>
                  </a:cubicBezTo>
                  <a:cubicBezTo>
                    <a:pt x="21237" y="374"/>
                    <a:pt x="20800" y="169"/>
                    <a:pt x="20248" y="75"/>
                  </a:cubicBezTo>
                  <a:cubicBezTo>
                    <a:pt x="19744" y="0"/>
                    <a:pt x="19268" y="0"/>
                    <a:pt x="18332" y="0"/>
                  </a:cubicBezTo>
                  <a:lnTo>
                    <a:pt x="3264" y="0"/>
                  </a:lnTo>
                  <a:close/>
                </a:path>
              </a:pathLst>
            </a:custGeom>
            <a:ln w="25400" cap="flat">
              <a:solidFill>
                <a:srgbClr val="3366CC"/>
              </a:solidFill>
              <a:prstDash val="solid"/>
              <a:round/>
            </a:ln>
            <a:effectLst/>
          </p:spPr>
        </p:pic>
        <p:pic>
          <p:nvPicPr>
            <p:cNvPr id="330" name="成组" descr="成组"/>
            <p:cNvPicPr>
              <a:picLocks noChangeAspect="1"/>
            </p:cNvPicPr>
            <p:nvPr/>
          </p:nvPicPr>
          <p:blipFill>
            <a:blip r:embed="rId5">
              <a:extLst/>
            </a:blip>
            <a:srcRect l="1309" t="0" r="1310" b="0"/>
            <a:stretch>
              <a:fillRect/>
            </a:stretch>
          </p:blipFill>
          <p:spPr>
            <a:xfrm>
              <a:off x="9047785" y="-1"/>
              <a:ext cx="4112024" cy="75622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21600" fill="norm" stroke="1" extrusionOk="0">
                  <a:moveTo>
                    <a:pt x="3264" y="0"/>
                  </a:moveTo>
                  <a:cubicBezTo>
                    <a:pt x="2325" y="0"/>
                    <a:pt x="1849" y="0"/>
                    <a:pt x="1348" y="75"/>
                  </a:cubicBezTo>
                  <a:cubicBezTo>
                    <a:pt x="796" y="169"/>
                    <a:pt x="359" y="374"/>
                    <a:pt x="158" y="633"/>
                  </a:cubicBezTo>
                  <a:cubicBezTo>
                    <a:pt x="-2" y="870"/>
                    <a:pt x="0" y="1091"/>
                    <a:pt x="0" y="1530"/>
                  </a:cubicBezTo>
                  <a:lnTo>
                    <a:pt x="0" y="20064"/>
                  </a:lnTo>
                  <a:cubicBezTo>
                    <a:pt x="0" y="20509"/>
                    <a:pt x="-2" y="20730"/>
                    <a:pt x="158" y="20967"/>
                  </a:cubicBezTo>
                  <a:cubicBezTo>
                    <a:pt x="359" y="21226"/>
                    <a:pt x="796" y="21430"/>
                    <a:pt x="1348" y="21524"/>
                  </a:cubicBezTo>
                  <a:cubicBezTo>
                    <a:pt x="1852" y="21599"/>
                    <a:pt x="2328" y="21600"/>
                    <a:pt x="3264" y="21600"/>
                  </a:cubicBezTo>
                  <a:lnTo>
                    <a:pt x="18320" y="21600"/>
                  </a:lnTo>
                  <a:cubicBezTo>
                    <a:pt x="19270" y="21600"/>
                    <a:pt x="19744" y="21599"/>
                    <a:pt x="20248" y="21524"/>
                  </a:cubicBezTo>
                  <a:cubicBezTo>
                    <a:pt x="20800" y="21430"/>
                    <a:pt x="21237" y="21226"/>
                    <a:pt x="21438" y="20967"/>
                  </a:cubicBezTo>
                  <a:cubicBezTo>
                    <a:pt x="21598" y="20730"/>
                    <a:pt x="21596" y="20509"/>
                    <a:pt x="21596" y="20070"/>
                  </a:cubicBezTo>
                  <a:lnTo>
                    <a:pt x="21596" y="1536"/>
                  </a:lnTo>
                  <a:cubicBezTo>
                    <a:pt x="21596" y="1091"/>
                    <a:pt x="21598" y="870"/>
                    <a:pt x="21438" y="633"/>
                  </a:cubicBezTo>
                  <a:cubicBezTo>
                    <a:pt x="21237" y="374"/>
                    <a:pt x="20800" y="169"/>
                    <a:pt x="20248" y="75"/>
                  </a:cubicBezTo>
                  <a:cubicBezTo>
                    <a:pt x="19744" y="0"/>
                    <a:pt x="19268" y="0"/>
                    <a:pt x="18332" y="0"/>
                  </a:cubicBezTo>
                  <a:lnTo>
                    <a:pt x="3264" y="0"/>
                  </a:lnTo>
                  <a:close/>
                </a:path>
              </a:pathLst>
            </a:custGeom>
            <a:ln w="25400" cap="flat">
              <a:solidFill>
                <a:srgbClr val="3366CC"/>
              </a:solidFill>
              <a:prstDash val="solid"/>
              <a:round/>
            </a:ln>
            <a:effectLst/>
          </p:spPr>
        </p:pic>
        <p:pic>
          <p:nvPicPr>
            <p:cNvPr id="331" name="成组" descr="成组"/>
            <p:cNvPicPr>
              <a:picLocks noChangeAspect="1"/>
            </p:cNvPicPr>
            <p:nvPr/>
          </p:nvPicPr>
          <p:blipFill>
            <a:blip r:embed="rId6">
              <a:extLst/>
            </a:blip>
            <a:srcRect l="0" t="0" r="0" b="10419"/>
            <a:stretch>
              <a:fillRect/>
            </a:stretch>
          </p:blipFill>
          <p:spPr>
            <a:xfrm>
              <a:off x="13497863" y="6797"/>
              <a:ext cx="4112023" cy="75556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21600" fill="norm" stroke="1" extrusionOk="0">
                  <a:moveTo>
                    <a:pt x="1955" y="0"/>
                  </a:moveTo>
                  <a:cubicBezTo>
                    <a:pt x="1740" y="11"/>
                    <a:pt x="1542" y="27"/>
                    <a:pt x="1348" y="56"/>
                  </a:cubicBezTo>
                  <a:cubicBezTo>
                    <a:pt x="796" y="150"/>
                    <a:pt x="359" y="355"/>
                    <a:pt x="158" y="614"/>
                  </a:cubicBezTo>
                  <a:cubicBezTo>
                    <a:pt x="-2" y="851"/>
                    <a:pt x="0" y="1073"/>
                    <a:pt x="0" y="1512"/>
                  </a:cubicBezTo>
                  <a:lnTo>
                    <a:pt x="0" y="20063"/>
                  </a:lnTo>
                  <a:cubicBezTo>
                    <a:pt x="0" y="20508"/>
                    <a:pt x="-2" y="20730"/>
                    <a:pt x="158" y="20967"/>
                  </a:cubicBezTo>
                  <a:cubicBezTo>
                    <a:pt x="359" y="21226"/>
                    <a:pt x="796" y="21430"/>
                    <a:pt x="1348" y="21524"/>
                  </a:cubicBezTo>
                  <a:cubicBezTo>
                    <a:pt x="1852" y="21599"/>
                    <a:pt x="2328" y="21600"/>
                    <a:pt x="3264" y="21600"/>
                  </a:cubicBezTo>
                  <a:lnTo>
                    <a:pt x="18320" y="21600"/>
                  </a:lnTo>
                  <a:cubicBezTo>
                    <a:pt x="19270" y="21600"/>
                    <a:pt x="19744" y="21599"/>
                    <a:pt x="20248" y="21524"/>
                  </a:cubicBezTo>
                  <a:cubicBezTo>
                    <a:pt x="20800" y="21430"/>
                    <a:pt x="21237" y="21226"/>
                    <a:pt x="21438" y="20967"/>
                  </a:cubicBezTo>
                  <a:cubicBezTo>
                    <a:pt x="21598" y="20730"/>
                    <a:pt x="21596" y="20508"/>
                    <a:pt x="21596" y="20068"/>
                  </a:cubicBezTo>
                  <a:lnTo>
                    <a:pt x="21596" y="1518"/>
                  </a:lnTo>
                  <a:cubicBezTo>
                    <a:pt x="21596" y="1073"/>
                    <a:pt x="21598" y="851"/>
                    <a:pt x="21438" y="614"/>
                  </a:cubicBezTo>
                  <a:cubicBezTo>
                    <a:pt x="21237" y="355"/>
                    <a:pt x="20800" y="150"/>
                    <a:pt x="20248" y="56"/>
                  </a:cubicBezTo>
                  <a:cubicBezTo>
                    <a:pt x="20053" y="27"/>
                    <a:pt x="19854" y="11"/>
                    <a:pt x="19639" y="0"/>
                  </a:cubicBezTo>
                  <a:lnTo>
                    <a:pt x="1955" y="0"/>
                  </a:lnTo>
                  <a:close/>
                </a:path>
              </a:pathLst>
            </a:custGeom>
            <a:ln w="25400" cap="flat">
              <a:solidFill>
                <a:srgbClr val="3366CC"/>
              </a:solidFill>
              <a:prstDash val="solid"/>
              <a:round/>
            </a:ln>
            <a:effectLst/>
          </p:spPr>
        </p:pic>
        <p:pic>
          <p:nvPicPr>
            <p:cNvPr id="332" name="成组" descr="成组"/>
            <p:cNvPicPr>
              <a:picLocks noChangeAspect="1"/>
            </p:cNvPicPr>
            <p:nvPr/>
          </p:nvPicPr>
          <p:blipFill>
            <a:blip r:embed="rId7">
              <a:extLst/>
            </a:blip>
            <a:srcRect l="263" t="0" r="264" b="0"/>
            <a:stretch>
              <a:fillRect/>
            </a:stretch>
          </p:blipFill>
          <p:spPr>
            <a:xfrm>
              <a:off x="17947938" y="-1"/>
              <a:ext cx="4112024" cy="75622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21600" fill="norm" stroke="1" extrusionOk="0">
                  <a:moveTo>
                    <a:pt x="3264" y="0"/>
                  </a:moveTo>
                  <a:cubicBezTo>
                    <a:pt x="2325" y="0"/>
                    <a:pt x="1849" y="0"/>
                    <a:pt x="1348" y="75"/>
                  </a:cubicBezTo>
                  <a:cubicBezTo>
                    <a:pt x="796" y="169"/>
                    <a:pt x="359" y="374"/>
                    <a:pt x="158" y="633"/>
                  </a:cubicBezTo>
                  <a:cubicBezTo>
                    <a:pt x="-2" y="870"/>
                    <a:pt x="0" y="1091"/>
                    <a:pt x="0" y="1530"/>
                  </a:cubicBezTo>
                  <a:lnTo>
                    <a:pt x="0" y="20064"/>
                  </a:lnTo>
                  <a:cubicBezTo>
                    <a:pt x="0" y="20509"/>
                    <a:pt x="-2" y="20730"/>
                    <a:pt x="158" y="20967"/>
                  </a:cubicBezTo>
                  <a:cubicBezTo>
                    <a:pt x="359" y="21226"/>
                    <a:pt x="796" y="21430"/>
                    <a:pt x="1348" y="21524"/>
                  </a:cubicBezTo>
                  <a:cubicBezTo>
                    <a:pt x="1852" y="21599"/>
                    <a:pt x="2328" y="21600"/>
                    <a:pt x="3264" y="21600"/>
                  </a:cubicBezTo>
                  <a:lnTo>
                    <a:pt x="18320" y="21600"/>
                  </a:lnTo>
                  <a:cubicBezTo>
                    <a:pt x="19270" y="21600"/>
                    <a:pt x="19744" y="21599"/>
                    <a:pt x="20248" y="21524"/>
                  </a:cubicBezTo>
                  <a:cubicBezTo>
                    <a:pt x="20800" y="21430"/>
                    <a:pt x="21237" y="21226"/>
                    <a:pt x="21438" y="20967"/>
                  </a:cubicBezTo>
                  <a:cubicBezTo>
                    <a:pt x="21598" y="20730"/>
                    <a:pt x="21596" y="20509"/>
                    <a:pt x="21596" y="20070"/>
                  </a:cubicBezTo>
                  <a:lnTo>
                    <a:pt x="21596" y="1536"/>
                  </a:lnTo>
                  <a:cubicBezTo>
                    <a:pt x="21596" y="1091"/>
                    <a:pt x="21598" y="870"/>
                    <a:pt x="21438" y="633"/>
                  </a:cubicBezTo>
                  <a:cubicBezTo>
                    <a:pt x="21237" y="374"/>
                    <a:pt x="20800" y="169"/>
                    <a:pt x="20248" y="75"/>
                  </a:cubicBezTo>
                  <a:cubicBezTo>
                    <a:pt x="19744" y="0"/>
                    <a:pt x="19268" y="0"/>
                    <a:pt x="18332" y="0"/>
                  </a:cubicBezTo>
                  <a:lnTo>
                    <a:pt x="3264" y="0"/>
                  </a:lnTo>
                  <a:close/>
                </a:path>
              </a:pathLst>
            </a:custGeom>
            <a:ln w="25400" cap="flat">
              <a:solidFill>
                <a:srgbClr val="3366CC"/>
              </a:solidFill>
              <a:prstDash val="solid"/>
              <a:round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extBox 25"/>
          <p:cNvSpPr txBox="1"/>
          <p:nvPr/>
        </p:nvSpPr>
        <p:spPr>
          <a:xfrm>
            <a:off x="14372270" y="9578136"/>
            <a:ext cx="5961889" cy="3675381"/>
          </a:xfrm>
          <a:prstGeom prst="rect">
            <a:avLst/>
          </a:prstGeom>
          <a:solidFill>
            <a:srgbClr val="1057B3">
              <a:alpha val="10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 anchor="ctr">
            <a:spAutoFit/>
          </a:bodyPr>
          <a:lstStyle/>
          <a:p>
            <a:pPr defTabSz="1828800">
              <a:lnSpc>
                <a:spcPct val="150000"/>
              </a:lnSpc>
              <a:defRPr b="0" sz="3600">
                <a:latin typeface="HelveticaNeue"/>
                <a:ea typeface="HelveticaNeue"/>
                <a:cs typeface="HelveticaNeue"/>
                <a:sym typeface="HelveticaNeue"/>
              </a:defRPr>
            </a:pPr>
            <a:r>
              <a:rPr>
                <a:latin typeface="微软雅黑"/>
                <a:ea typeface="微软雅黑"/>
                <a:cs typeface="微软雅黑"/>
                <a:sym typeface="微软雅黑"/>
              </a:rPr>
              <a:t>跨度盈亏、资金回报率、以及复权资金曲线便于用户进行资产分析，</a:t>
            </a:r>
            <a:r>
              <a:rPr b="1">
                <a:latin typeface="微软雅黑"/>
                <a:ea typeface="微软雅黑"/>
                <a:cs typeface="微软雅黑"/>
                <a:sym typeface="微软雅黑"/>
              </a:rPr>
              <a:t>高效复盘账户表现，提高投资决策水平。</a:t>
            </a:r>
          </a:p>
        </p:txBody>
      </p:sp>
      <p:pic>
        <p:nvPicPr>
          <p:cNvPr id="336" name="图片 4" descr="图片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09522" y="2313561"/>
            <a:ext cx="5961889" cy="10809806"/>
          </a:xfrm>
          <a:prstGeom prst="rect">
            <a:avLst/>
          </a:prstGeom>
          <a:ln w="25400">
            <a:miter lim="400000"/>
          </a:ln>
          <a:effectLst>
            <a:outerShdw sx="100000" sy="100000" kx="0" ky="0" algn="b" rotWithShape="0" blurRad="254000" dist="127000" dir="5400000">
              <a:srgbClr val="000000">
                <a:alpha val="9787"/>
              </a:srgbClr>
            </a:outerShdw>
          </a:effectLst>
        </p:spPr>
      </p:pic>
      <p:pic>
        <p:nvPicPr>
          <p:cNvPr id="337" name="图片 3" descr="图片 3"/>
          <p:cNvPicPr>
            <a:picLocks noChangeAspect="1"/>
          </p:cNvPicPr>
          <p:nvPr/>
        </p:nvPicPr>
        <p:blipFill>
          <a:blip r:embed="rId3">
            <a:extLst/>
          </a:blip>
          <a:srcRect l="0" t="0" r="0" b="43309"/>
          <a:stretch>
            <a:fillRect/>
          </a:stretch>
        </p:blipFill>
        <p:spPr>
          <a:xfrm>
            <a:off x="9085424" y="2294926"/>
            <a:ext cx="4872926" cy="4979533"/>
          </a:xfrm>
          <a:prstGeom prst="rect">
            <a:avLst/>
          </a:prstGeom>
          <a:ln w="25400">
            <a:miter lim="400000"/>
          </a:ln>
          <a:effectLst>
            <a:outerShdw sx="100000" sy="100000" kx="0" ky="0" algn="b" rotWithShape="0" blurRad="254000" dist="127000" dir="5400000">
              <a:srgbClr val="000000">
                <a:alpha val="9787"/>
              </a:srgbClr>
            </a:outerShdw>
          </a:effectLst>
        </p:spPr>
      </p:pic>
      <p:pic>
        <p:nvPicPr>
          <p:cNvPr id="338" name="图片 2" descr="图片 2"/>
          <p:cNvPicPr>
            <a:picLocks noChangeAspect="1"/>
          </p:cNvPicPr>
          <p:nvPr/>
        </p:nvPicPr>
        <p:blipFill>
          <a:blip r:embed="rId4">
            <a:extLst/>
          </a:blip>
          <a:srcRect l="0" t="0" r="0" b="38718"/>
          <a:stretch>
            <a:fillRect/>
          </a:stretch>
        </p:blipFill>
        <p:spPr>
          <a:xfrm>
            <a:off x="9085424" y="7786739"/>
            <a:ext cx="4872762" cy="5420204"/>
          </a:xfrm>
          <a:prstGeom prst="rect">
            <a:avLst/>
          </a:prstGeom>
          <a:ln w="25400">
            <a:miter lim="400000"/>
          </a:ln>
          <a:effectLst>
            <a:outerShdw sx="100000" sy="100000" kx="0" ky="0" algn="b" rotWithShape="0" blurRad="254000" dist="127000" dir="5400000">
              <a:srgbClr val="000000">
                <a:alpha val="9787"/>
              </a:srgbClr>
            </a:outerShdw>
          </a:effectLst>
        </p:spPr>
      </p:pic>
      <p:pic>
        <p:nvPicPr>
          <p:cNvPr id="339" name="C:\Users\Administrator\Desktop\新建文件夹 (13)\png\07-01复权资金.png" descr="C:\Users\Administrator\Desktop\新建文件夹 (13)\png\07-01复权资金.png"/>
          <p:cNvPicPr>
            <a:picLocks noChangeAspect="1"/>
          </p:cNvPicPr>
          <p:nvPr/>
        </p:nvPicPr>
        <p:blipFill>
          <a:blip r:embed="rId5">
            <a:extLst/>
          </a:blip>
          <a:srcRect l="0" t="0" r="0" b="35529"/>
          <a:stretch>
            <a:fillRect/>
          </a:stretch>
        </p:blipFill>
        <p:spPr>
          <a:xfrm>
            <a:off x="14372270" y="2267286"/>
            <a:ext cx="5961890" cy="6840144"/>
          </a:xfrm>
          <a:prstGeom prst="rect">
            <a:avLst/>
          </a:prstGeom>
          <a:ln w="25400">
            <a:miter lim="400000"/>
          </a:ln>
          <a:effectLst>
            <a:outerShdw sx="100000" sy="100000" kx="0" ky="0" algn="b" rotWithShape="0" blurRad="254000" dist="127000" dir="5400000">
              <a:srgbClr val="000000">
                <a:alpha val="9787"/>
              </a:srgbClr>
            </a:outerShdw>
          </a:effectLst>
        </p:spPr>
      </p:pic>
      <p:sp>
        <p:nvSpPr>
          <p:cNvPr id="340" name="Title 2"/>
          <p:cNvSpPr txBox="1"/>
          <p:nvPr>
            <p:ph type="title"/>
          </p:nvPr>
        </p:nvSpPr>
        <p:spPr>
          <a:xfrm>
            <a:off x="1339847" y="1"/>
            <a:ext cx="21701128" cy="2057400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831A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▌</a:t>
            </a:r>
            <a:r>
              <a:rPr>
                <a:solidFill>
                  <a:srgbClr val="000000"/>
                </a:solidFill>
              </a:rPr>
              <a:t>功能介绍—4、趋势分析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Title 2"/>
          <p:cNvSpPr txBox="1"/>
          <p:nvPr>
            <p:ph type="title"/>
          </p:nvPr>
        </p:nvSpPr>
        <p:spPr>
          <a:xfrm>
            <a:off x="1339847" y="1"/>
            <a:ext cx="21701128" cy="2057400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831A2"/>
                </a:solidFill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▌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未来规划</a:t>
            </a:r>
          </a:p>
        </p:txBody>
      </p:sp>
      <p:sp>
        <p:nvSpPr>
          <p:cNvPr id="343" name="íṧlîḓê"/>
          <p:cNvSpPr/>
          <p:nvPr/>
        </p:nvSpPr>
        <p:spPr>
          <a:xfrm>
            <a:off x="2039416" y="2321953"/>
            <a:ext cx="19295305" cy="4531269"/>
          </a:xfrm>
          <a:prstGeom prst="roundRect">
            <a:avLst>
              <a:gd name="adj" fmla="val 7585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0" dist="254000" dir="0">
              <a:srgbClr val="A6A6A6">
                <a:alpha val="24354"/>
              </a:srgbClr>
            </a:outerShdw>
          </a:effectLst>
        </p:spPr>
        <p:txBody>
          <a:bodyPr tIns="91439" bIns="91439" anchor="ctr"/>
          <a:lstStyle/>
          <a:p>
            <a:pPr defTabSz="1828707">
              <a:defRPr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44" name="Group 5"/>
          <p:cNvSpPr txBox="1"/>
          <p:nvPr/>
        </p:nvSpPr>
        <p:spPr>
          <a:xfrm>
            <a:off x="4840501" y="1609757"/>
            <a:ext cx="14125002" cy="4018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 anchor="ctr"/>
          <a:lstStyle>
            <a:lvl1pPr algn="l" defTabSz="1828800">
              <a:defRPr sz="6400">
                <a:solidFill>
                  <a:srgbClr val="0C4186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r>
              <a:rPr>
                <a:latin typeface="微软雅黑"/>
                <a:ea typeface="微软雅黑"/>
                <a:cs typeface="微软雅黑"/>
                <a:sym typeface="微软雅黑"/>
              </a:rPr>
              <a:t>简化分析、增加无需审核业务文件下载</a:t>
            </a:r>
          </a:p>
        </p:txBody>
      </p:sp>
      <p:sp>
        <p:nvSpPr>
          <p:cNvPr id="345" name="íśliḋe"/>
          <p:cNvSpPr txBox="1"/>
          <p:nvPr/>
        </p:nvSpPr>
        <p:spPr>
          <a:xfrm>
            <a:off x="2845955" y="4180322"/>
            <a:ext cx="18114094" cy="23287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 anchor="ctr"/>
          <a:lstStyle/>
          <a:p>
            <a:pPr defTabSz="1828800">
              <a:defRPr b="0" sz="3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期货投资者更多是从证券行业引流进入，我们后续参照证券账户分析，并且在证券基础上简化出</a:t>
            </a:r>
          </a:p>
          <a:p>
            <a:pPr defTabSz="1828800">
              <a:defRPr b="0" sz="3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更加适合期货的账户分析。增加无需审核业务文件下载的功能。</a:t>
            </a:r>
          </a:p>
        </p:txBody>
      </p:sp>
      <p:grpSp>
        <p:nvGrpSpPr>
          <p:cNvPr id="349" name="成组"/>
          <p:cNvGrpSpPr/>
          <p:nvPr/>
        </p:nvGrpSpPr>
        <p:grpSpPr>
          <a:xfrm>
            <a:off x="2136231" y="7498517"/>
            <a:ext cx="12895438" cy="4607726"/>
            <a:chOff x="-1376250" y="0"/>
            <a:chExt cx="12895436" cy="4607725"/>
          </a:xfrm>
        </p:grpSpPr>
        <p:sp>
          <p:nvSpPr>
            <p:cNvPr id="346" name="圆角矩形"/>
            <p:cNvSpPr/>
            <p:nvPr/>
          </p:nvSpPr>
          <p:spPr>
            <a:xfrm>
              <a:off x="-1376251" y="0"/>
              <a:ext cx="11799142" cy="4607726"/>
            </a:xfrm>
            <a:prstGeom prst="roundRect">
              <a:avLst>
                <a:gd name="adj" fmla="val 16667"/>
              </a:avLst>
            </a:prstGeom>
            <a:solidFill>
              <a:srgbClr val="5BA3EB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508000" dist="254000" dir="0">
                <a:srgbClr val="5BA3EB">
                  <a:alpha val="32000"/>
                </a:srgbClr>
              </a:outerShdw>
            </a:effectLst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707">
                <a:lnSpc>
                  <a:spcPct val="150000"/>
                </a:lnSpc>
                <a:defRPr sz="3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47" name="区间收益金额、收益率展示（本月、近三月、近六月、自定义）…"/>
            <p:cNvSpPr txBox="1"/>
            <p:nvPr/>
          </p:nvSpPr>
          <p:spPr>
            <a:xfrm>
              <a:off x="-967345" y="1118664"/>
              <a:ext cx="12486532" cy="32719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noAutofit/>
            </a:bodyPr>
            <a:lstStyle/>
            <a:p>
              <a:pPr algn="l" defTabSz="1828707">
                <a:defRPr sz="3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区间收益金额、收益率展示</a:t>
              </a:r>
              <a:r>
                <a:rPr b="0"/>
                <a:t>（本月、近三月、近六月、自定义）</a:t>
              </a:r>
              <a:endParaRPr b="0"/>
            </a:p>
            <a:p>
              <a:pPr algn="l" defTabSz="1828707">
                <a:defRPr b="0" sz="3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b="1"/>
                <a:t>权益分析</a:t>
              </a:r>
              <a:r>
                <a:t>（收益率、收益走势、权益走势、权益变动）</a:t>
              </a:r>
            </a:p>
            <a:p>
              <a:pPr algn="l" defTabSz="1828707">
                <a:defRPr sz="3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盈亏日历</a:t>
              </a:r>
              <a:r>
                <a:rPr b="0"/>
                <a:t>（收益、收益率）</a:t>
              </a:r>
            </a:p>
            <a:p>
              <a:pPr algn="l" defTabSz="1828707">
                <a:defRPr b="0" sz="3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b="1"/>
                <a:t>交易分析</a:t>
              </a:r>
              <a:r>
                <a:t>（收益金额、胜率）</a:t>
              </a:r>
            </a:p>
            <a:p>
              <a:pPr algn="l" defTabSz="1828707">
                <a:defRPr sz="3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交易品种分析</a:t>
              </a:r>
              <a:r>
                <a:rPr b="0"/>
                <a:t>（品种分布、品种胜率）</a:t>
              </a:r>
            </a:p>
          </p:txBody>
        </p:sp>
        <p:sp>
          <p:nvSpPr>
            <p:cNvPr id="348" name="功能概括"/>
            <p:cNvSpPr txBox="1"/>
            <p:nvPr/>
          </p:nvSpPr>
          <p:spPr>
            <a:xfrm>
              <a:off x="-939706" y="313944"/>
              <a:ext cx="2095501" cy="787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功能概括</a:t>
              </a:r>
            </a:p>
          </p:txBody>
        </p:sp>
      </p:grpSp>
      <p:grpSp>
        <p:nvGrpSpPr>
          <p:cNvPr id="353" name="成组"/>
          <p:cNvGrpSpPr/>
          <p:nvPr/>
        </p:nvGrpSpPr>
        <p:grpSpPr>
          <a:xfrm>
            <a:off x="14366776" y="7536745"/>
            <a:ext cx="7116064" cy="4531269"/>
            <a:chOff x="0" y="0"/>
            <a:chExt cx="7116063" cy="4531267"/>
          </a:xfrm>
        </p:grpSpPr>
        <p:sp>
          <p:nvSpPr>
            <p:cNvPr id="350" name="îṣlïḑé"/>
            <p:cNvSpPr/>
            <p:nvPr/>
          </p:nvSpPr>
          <p:spPr>
            <a:xfrm>
              <a:off x="0" y="0"/>
              <a:ext cx="7116064" cy="4531268"/>
            </a:xfrm>
            <a:prstGeom prst="roundRect">
              <a:avLst>
                <a:gd name="adj" fmla="val 16667"/>
              </a:avLst>
            </a:prstGeom>
            <a:solidFill>
              <a:srgbClr val="ED7E33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508000" dist="254000" dir="0">
                <a:srgbClr val="ED7E33">
                  <a:alpha val="32000"/>
                </a:srgbClr>
              </a:outerShdw>
            </a:effectLst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707">
                <a:lnSpc>
                  <a:spcPct val="150000"/>
                </a:lnSpc>
                <a:defRPr sz="3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351" name="无需审核业务"/>
            <p:cNvSpPr txBox="1"/>
            <p:nvPr/>
          </p:nvSpPr>
          <p:spPr>
            <a:xfrm>
              <a:off x="2014980" y="275715"/>
              <a:ext cx="3086101" cy="787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无需审核业务</a:t>
              </a:r>
            </a:p>
          </p:txBody>
        </p:sp>
        <p:sp>
          <p:nvSpPr>
            <p:cNvPr id="352" name="销户证明自动生成下发…"/>
            <p:cNvSpPr txBox="1"/>
            <p:nvPr/>
          </p:nvSpPr>
          <p:spPr>
            <a:xfrm>
              <a:off x="164895" y="629673"/>
              <a:ext cx="6786273" cy="32719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9" tIns="91439" rIns="91439" bIns="91439" numCol="1" anchor="ctr">
              <a:noAutofit/>
            </a:bodyPr>
            <a:lstStyle/>
            <a:p>
              <a:pPr defTabSz="1828707">
                <a:defRPr b="0" sz="3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销户证明自动生成下发</a:t>
              </a:r>
            </a:p>
            <a:p>
              <a:pPr defTabSz="1828707">
                <a:defRPr b="0" sz="3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数据查询自动生成</a:t>
              </a:r>
            </a:p>
            <a:p>
              <a:pPr defTabSz="1828707">
                <a:defRPr b="0" sz="3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t>······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işḻídê"/>
          <p:cNvSpPr txBox="1"/>
          <p:nvPr>
            <p:ph type="title"/>
          </p:nvPr>
        </p:nvSpPr>
        <p:spPr>
          <a:xfrm>
            <a:off x="5699136" y="4315320"/>
            <a:ext cx="12598405" cy="3212647"/>
          </a:xfrm>
          <a:prstGeom prst="rect">
            <a:avLst/>
          </a:prstGeom>
        </p:spPr>
        <p:txBody>
          <a:bodyPr/>
          <a:lstStyle>
            <a:lvl1pPr defTabSz="1609263">
              <a:defRPr sz="16896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谢谢</a:t>
            </a:r>
          </a:p>
        </p:txBody>
      </p:sp>
      <p:pic>
        <p:nvPicPr>
          <p:cNvPr id="356" name="Picture 42" descr="Picture 4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2919" y="502315"/>
            <a:ext cx="2392681" cy="676245"/>
          </a:xfrm>
          <a:prstGeom prst="rect">
            <a:avLst/>
          </a:prstGeom>
          <a:ln w="12700">
            <a:miter lim="400000"/>
          </a:ln>
        </p:spPr>
      </p:pic>
      <p:pic>
        <p:nvPicPr>
          <p:cNvPr id="357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233420" y="469720"/>
            <a:ext cx="2532379" cy="7342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